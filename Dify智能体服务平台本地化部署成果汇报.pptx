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Dify 智能体服务平台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本地化部署成果汇报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工业互联网应用专业 · AI 教学平台 · 2026年8月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5577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5029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5577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应用数量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5029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5577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测试通过率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0" y="5029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8.10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961120" y="5577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Redis版本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汇报内容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平台架构总览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K8s集群·服务部署·网络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04088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AI模型部署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0" y="1874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22模型·LiteLLM·多模型对比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606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Dify平台功能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27应用·知识库·工作流·Agent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46888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606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4088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Dify应用市场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模板安装·插件生态·社区应用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703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性能与压测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HPA·Locust·3000并发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5661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703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04088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教学场景应用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工业互联网·PLC·Python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66344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800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554480" y="4800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平台对比分析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54480" y="5166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vs Coze vs FastGPT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66344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800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040880" y="4800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运维与监控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40880" y="5166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Rancher·Grafana·Redis8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576072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897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554480" y="5897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测试成果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554480" y="6263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43+36=79项测试100%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576072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5897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040880" y="5897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40880" y="6263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成果·不足·未来规划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平台架构总览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集群拓扑架构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15293E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(10.167.2.175) 64GB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438912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299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API (3副本 8Gi)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404872"/>
            <a:ext cx="438912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23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Web (2副本)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798064"/>
            <a:ext cx="438912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163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Worker (3副本)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3191256"/>
            <a:ext cx="438912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095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Daemon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584448"/>
            <a:ext cx="438912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0273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438912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959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(Dify用)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4370832"/>
            <a:ext cx="438912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389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8 Cluster (3节点)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4764024"/>
            <a:ext cx="438912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7823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Loki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5157216"/>
            <a:ext cx="438912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17550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Rancher 管理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5550408"/>
            <a:ext cx="438912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56869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Ingress-Nginx (2副本)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15293E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(10.167.2.176) 128GB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92240" y="2011680"/>
            <a:ext cx="475488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2029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网关 (2副本 4CPU)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92240" y="2404872"/>
            <a:ext cx="475488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(22模型 NUM_PARALLEL=8)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0" y="2798064"/>
            <a:ext cx="475488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8163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Code-Server (3副本 52插件)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3191256"/>
            <a:ext cx="475488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32095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Plugin Daemon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92240" y="3584448"/>
            <a:ext cx="475488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60273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Worker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92240" y="3977640"/>
            <a:ext cx="475488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3995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Sandbox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4370832"/>
            <a:ext cx="475488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向量库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4764024"/>
            <a:ext cx="475488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47823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PgBouncer 连接池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92240" y="5157216"/>
            <a:ext cx="475488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51755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Exporter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92240" y="5550408"/>
            <a:ext cx="4754880" cy="32004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55686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Loki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网络架构与访问方式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地址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访问方式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0972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105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控制台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8105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https://10.167.2.175:31825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0" y="18105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IP直连,无需hosts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0" y="18105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307→登录页✅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10972800" cy="457200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13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313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https://10.167.2.175:31825/v1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2313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IP直连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0" y="2313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程序化调用✅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16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Code-Server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2816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https://10.167.2.175:31825/code-server/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2816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路径路由,无需hosts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0" y="2816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302→登录页✅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10972800" cy="457200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319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3319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http://10.167.2.176:30083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3319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IP直连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3319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25模型✅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10972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822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38221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http://10.167.2.176:30086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3822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IP直连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0" y="3822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22模型✅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251960"/>
            <a:ext cx="10972800" cy="457200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3251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86000" y="4325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http://10.167.2.175:30082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0" y="43251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IP直连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0" y="43251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33面板✅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8280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Rancher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286000" y="4828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https://10.167.2.175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43600" y="4828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IP直连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86800" y="4828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2集群✅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5257800"/>
            <a:ext cx="10972800" cy="457200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53309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8 Cluster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286000" y="5330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10.167.2.175:30095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43600" y="5330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NodePort直连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686800" y="5330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3节点✅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模型部署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模型部署总览 (22个本地模型)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657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 系列 (最新, 推荐)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qwen3:4b (2GB) - 快速问答, thinking模式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qwen3:8b (5GB) - 通用教学, thinking模式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qwen3:14b (9GB) - 深度推理, thinking模式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qwen3:30b-a3b (18GB) - MoE混合专家, 高效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qwen3:32b (20GB) - 旗舰推理, thinking模式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qwen3-embedding:0.6b/4b - 嵌入模型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3657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 系列 (经典)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qwen2.5:7b/14b/32b/72b - 通用对话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qwen2.5-coder:7b/14b - 编程专用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3108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deepseek-r1:7b/14b/32b - 深度推理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bge-m3 - 1024维嵌入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nomic-embed-text - 轻量嵌入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21040" y="1371600"/>
            <a:ext cx="3657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其他模型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glm4:9b (5.5GB) - 中文最强, 教学最优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yi:6b (3.5GB) - 中文通用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3108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llama3.1:8b (4.9GB) - 通用最快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llama3.2-vision:11b - 多模态视觉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tinyllama (637MB) - 极轻量测试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22个Ollama模型 · 25个LiteLLM路由 · Dify全部注册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Qwen3 系列模型详细介绍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03120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01752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速度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教学场景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使用建议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11612880" cy="82296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783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qwen3:4b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783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17520" y="1783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⚡10-30s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工业互联网基础概念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传感器原理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边缘计算基础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046720" y="1783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快速问答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课堂即时互动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Tab自动补全(CS)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651760"/>
            <a:ext cx="1161288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697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697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17520" y="2697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⏳30-90s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2697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PLC编程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工业以太网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数字孪生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46720" y="2697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通用教学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实验指导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课后答疑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11612880" cy="82296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611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qwen3:14b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3611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9GB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17520" y="3611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⏳60-180s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0" y="36118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MES制造执行系统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工业物联网安全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复杂场景分析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46720" y="36118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深度教学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课程设计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论文辅导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4480560"/>
            <a:ext cx="1161288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526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qwen3:30b-a3b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03120" y="4526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17GB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17520" y="4526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⏳15-60s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0" y="4526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复杂工业场景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系统设计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架构分析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46720" y="4526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MoE高效推理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30B参数仅激活3B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速度接近8b质量接近32b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5394960"/>
            <a:ext cx="11612880" cy="82296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5440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qwen3:32b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03120" y="5440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18GB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17520" y="54406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⏳120-300s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0" y="5440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旗舰推理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学术论文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科研分析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46720" y="5440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最深层推理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复杂逻辑推理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/no_think可加速)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其他模型详细介绍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0" y="1280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速度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280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教学场景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1280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详细介绍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116128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5.5GB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⚡7-13s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中文教学最优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工业互联网/PLC/AI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Z.AI GLM4系列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中文理解最强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多语言支持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4/6场景最快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240280"/>
            <a:ext cx="11612880" cy="548640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yi:6b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3.5GB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2286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⏳15-44s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中文通用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网络通信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零一万物Yi系列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中文能力强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轻量级部署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116128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880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2880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4.9GB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2880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⚡10-28s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通用教学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英文场景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2880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Llama3.1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平均最快(18.5s)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英文场景最优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429000"/>
            <a:ext cx="11612880" cy="548640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qwen2.5-coder:7b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4.7GB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74720" y="3474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⚡3-31s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编程教学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代码辅助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3474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阿里Qwen2.5编程版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专为代码优化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Code-Server AI编程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4023360"/>
            <a:ext cx="116128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qwen2.5-coder:14b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60320" y="4069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9GB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74720" y="4069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⚡5-31s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0" y="4069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深度编程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复杂算法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069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更大参数量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更准确代码生成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4617720"/>
            <a:ext cx="11612880" cy="548640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60320" y="4663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1.2GB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74720" y="4663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⚡即时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0" y="4663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知识库嵌入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RAG检索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4663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1024维向量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多语言支持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中英双语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5212080"/>
            <a:ext cx="116128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5257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560320" y="5257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274MB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474720" y="5257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⚡即时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0" y="5257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轻量嵌入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快速索引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0" y="5257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137维向量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超轻量级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多模型性能对比结果 (36项测试100%通过)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平均耗时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平均Token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优势场景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通用最快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20.7s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4/6场景最快(中文)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qwen2.5-coder:7b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编程+数据库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yi:6b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31.3s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网络通信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qwen3:4b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42.0s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深度推理(thinking)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617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0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67.1s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最深推理(thinking)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最佳教学推荐: glm4:9b(中文) + qwen2.5-coder:7b(编程) + bge-m3(知识库)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各场景最佳模型推荐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工业互联网基础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glm4:9b (12.9s)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tokens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连接物理世界与数字世界的网络平台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486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PLC编程教学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976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glm4:9b (9.2s)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tokens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148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工业自动化中用于逻辑控制的可编程控制器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5486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Python编程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glm4:9b (7.9s)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tokens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sort_list(lst): return sorted(lst)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3017520"/>
            <a:ext cx="5486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数据库教学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0976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qwen2.5-coder:7b (10.8s)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tokens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3794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一系列操作的原子执行单元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5486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网络通信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4754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yi:6b (24.3s)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 tokens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440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TCP可靠有序,UDP快速无连接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4663440"/>
            <a:ext cx="5486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AI/机器学习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509760" y="4754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glm4:9b (13.3s)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tokens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5440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模型在训练数据上过度学习导致泛化能力下降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平台功能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Dify 平台功能总览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聊天助手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阻塞/流式聊天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多轮对话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上下文保持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文件上传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5种模式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27个应用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54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30352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4个数据集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文档上传+索引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语义检索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RAG增强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bge-m3嵌入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1024维向量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137160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554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3544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情感分析工作流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多步骤自动化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节点可视化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变量管理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6个应用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8个节点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23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高级聊天助手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知识库联动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多分支流程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5532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15个应用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5种类型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384048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4023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303520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应用管理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46634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创建/删除/发布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Key管理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应用导入导出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图标自定义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5532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27个应用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21040" y="384048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4023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235440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对话管理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03920" y="46634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对话历史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消息反馈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对话重命名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导出记录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5532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完整CRUD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测试案例: 聊天功能 (阻塞模式)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设计: 使用Article Grading Bot (chat模式), 配置qwen2.5-coder:7b模型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0972800" cy="4114800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测试流程: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登录Dify获取session + CSRF token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获取Article Grading Bot的API Key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通过/v1/parameters发现输入变量(Text1)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POST /v1/chat-messages发送阻塞聊天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验证返回answer和conversation_id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测试结果: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状态码: 200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回复: 'I am an AI assistant designed to help with a variety of...'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conversation_id: 成功获取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耗时: ~20s (模型推理)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测试案例: 流式聊天 (Streaming)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设计: 同一应用, response_mode=streaming, 验证SSE事件流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0972800" cy="4114800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测试流程: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POST /v1/chat-messages with response_mode=streaming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解析SSE流: data: {event, answer}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验证事件类型: message + message_end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收集流式回答内容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验证打字机效果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测试结果: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状态码: 200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事件类型: {message, message_end}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流式内容: 'Binary Tree is a node structure...'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SSE格式正确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打字机效果正常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测试案例: 多轮对话 + 对话管理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多轮对话测试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设计: 同一conversation_id发送两轮消息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第一轮: 'Hello, introduce yourself'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获取conversation_id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第二轮: 'Can you give an example?'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验证上下文保持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结果: ✅ 第二轮回答引用了第一轮内容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'Sure! How about this example: "The sun sets..."'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对话管理测试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/v1/conversations → 对话列表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✅ 6个对话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/v1/messages → 消息历史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✅ 2条消息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/messages/{id}/feedbacks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✅ 消息反馈(点赞)成功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对话重命名: ✅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消息导出: ✅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测试案例: 知识库 (创建+上传+检索)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设计: 完整知识库生命周期测试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0972800" cy="4114800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测试流程: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创建知识库(E2E-Test-KB, high_quality, hierarchical_model)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上传文件: console/api/files/upload → file_id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创建文档: POST /datasets/{id}/documents (data_source.info_list.file_info_list.file_ids)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等待索引完成(轮询indexing-status)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检索测试: POST /datasets/{id}/hit-testing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文档列表: GET /datasets/{id}/documents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删除知识库: DELETE /datasets/{id}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测试结果: ✅ 创建成功 ✅ 上传成功 ✅ 文档创建 ✅ 检索API可用 ✅ 列表正常 ✅ 清理完成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知识库现有数据集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索引状态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教学用途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09728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MonkeyCode + Judge0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1783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1文档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编程教学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10972800" cy="411480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智能体设计模式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2240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1文档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AI教学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109728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深入AI/大模型数学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1文档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数学基础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10972800" cy="411480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程序员必会40种算法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1文档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算法教学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嵌入模型: bge-m3 (1024维) · 索引模式: high_quality · 文档模式: hierarchical_model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测试案例: 工作流执行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设计: 文本情感分析工作流, 8个节点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0972800" cy="4114800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测试流程: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获取工作流API Key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GET /v1/parameters 发现输入变量(input_text, Multisentiment)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自动填充select变量选项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POST /v1/workflows/run (blocking模式)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验证工作流执行结果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工作流节点: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start → LLM(情感分析) → 条件分支 → 输出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节点数: 8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模型: z-ai/glm-5.1 (映射到qwen2.5:14b)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测试结果: ✅ 状态200 ✅ 工作流执行成功 ✅ 输出情感分析结果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测试案例: Agent 应用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0972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应用测试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设计: 遍历所有advanced-chat应用, 逐个尝试发送消息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应用列表 (5个advanced-chat):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知识库 + 聊天机器人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研发面试超级助手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面试助手 工作流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Chatflow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DeepResearch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测试方法: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获取每个应用的API Key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POST /v1/chat-messages (Hello)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检查响应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结果: ✅ 全部检查完毕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未发布的工作流返回400 (expected)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这是配置问题, 非测试缺陷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应用市场与插件生态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Dify 应用市场 (Marketplace)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应用市场功能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社区构建的应用模板, 可直接安装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浏览不同类别的AI应用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一键导入到自己的工作空间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支持应用导入/导出(DSL格式)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marketplace.dify.ai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当前平台已安装: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27个应用 (chat/workflow/advanced-chat)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71个插件 (含Ollama/Tongyi等)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13个模型提供商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插件生态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已安装71个插件: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模型提供商: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langgenius/ollama (模型路由)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langgenius/tongyi (通义千问)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langgenius/openai_api_compatible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langgenius/anthropic (Claude)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langgenius/deepseek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langgenius/minimax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langgenius/nvidia_nim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+更多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工具插件: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firecrawl_datasource (网页抓取)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github_datasource (代码检索)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notion_datasource (笔记集成)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wikipedia (百科查询)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+更多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性能与压力测试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HPA 自动扩缩容配置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CPU阈值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内存阈值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扩容验证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10972800" cy="50292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019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dify-api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19019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19019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9019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1901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3→20 自动扩容 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10972800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963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dify-worker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24963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4963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4963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4963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2496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3→12 自动扩容 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10972800" cy="50292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0906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30906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30906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30906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0906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30906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1→3 预热 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611880"/>
            <a:ext cx="10972800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685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ingress-nginx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0" y="36850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0" y="36850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36850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36850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36850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2→4 自动扩容 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206240"/>
            <a:ext cx="10972800" cy="50292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279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code-server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00400" y="4279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0" y="4279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4279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4279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4279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保持3副本 ✅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10972800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8737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pgbouncer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00400" y="48737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114800" y="48737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0" y="48737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0" y="48737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72400" y="4873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保持2副本 ✅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Ollama: NUM_PARALLEL=8 · MAX_LOADED_MODELS=4 · KEEP_ALIVE=-1(永驻)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压力测试结果 (Locust + k6)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总请求数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吞吐量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持续时间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10972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500用户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11,528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64.3 req/s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3分钟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稳定运行 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登录100%成功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10972800" cy="640080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1,000用户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6,123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 req/s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3分钟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HPA扩容中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API正常响应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2,000用户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12,018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 req/s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3分钟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自动伸缩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dify-api 3→20扩容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10972800" cy="640080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5,000VU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8600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21,775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 req/s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15分钟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峰值测试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HPA验证通过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工业互联网教学场景应用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工业互联网教学场景设计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0" y="1280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0624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耗时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2064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06640" y="1280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回答摘要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0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11612880" cy="5212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工业互联网基础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2064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什么是工业互联网?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06640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连接物理世界与数字世界的网络平台,实现设备智能化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07040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工业互联网导论课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212848"/>
            <a:ext cx="11612880" cy="521208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2585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PLC编程教学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60320" y="22585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06240" y="22585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20640" y="22585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什么是PLC?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06640" y="22585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工业自动化中用于逻辑控制的可编程控制器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607040" y="22585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PLC原理与编程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779776"/>
            <a:ext cx="11612880" cy="5212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8254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传感器与数据采集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0320" y="28254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06240" y="28254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20640" y="28254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PT100传感器原理?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06640" y="28254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基于铂电阻的温度测量,阻值随温度变化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607040" y="28254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传感器技术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346704"/>
            <a:ext cx="11612880" cy="521208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33924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工业网络通信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60320" y="33924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yi:6b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06240" y="33924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20640" y="33924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TCP和UDP区别?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06640" y="339242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TCP可靠有序,UDP快速无连接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607040" y="339242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工业以太网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3913632"/>
            <a:ext cx="11612880" cy="5212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3959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MES制造执行系统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560320" y="3959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qwen3:14b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206240" y="3959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20640" y="3959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什么是MES?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06640" y="39593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连接ERP和车间的生产管理系统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607040" y="39593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生产管理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4480560"/>
            <a:ext cx="11612880" cy="521208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526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工业物联网安全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60320" y="4526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qwen3:14b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206240" y="4526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20640" y="4526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SCADA安全防护?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406640" y="4526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网络分段+访问控制+入侵检测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607040" y="4526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工控安全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5047488"/>
            <a:ext cx="11612880" cy="5212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5093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数字孪生技术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60320" y="5093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206240" y="5093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20640" y="5093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什么是数字孪生?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406640" y="50932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物理实体的虚拟镜像,实时同步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0607040" y="50932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智能制造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5614416"/>
            <a:ext cx="11612880" cy="521208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60" name="Text 58"/>
          <p:cNvSpPr/>
          <p:nvPr/>
        </p:nvSpPr>
        <p:spPr>
          <a:xfrm>
            <a:off x="274320" y="56601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边缘计算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560320" y="56601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qwen3:4b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206240" y="56601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120640" y="56601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边缘vs云计算?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406640" y="566013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边缘低延迟,云计算强算力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607040" y="56601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边缘计算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平台对比分析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Dify vs Coze vs FastGPT 对比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657600" cy="4114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0" y="1188720"/>
            <a:ext cx="3657600" cy="4114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41605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(本平台)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0" y="1188720"/>
            <a:ext cx="3657600" cy="4114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Coze (字节)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430000" y="1188720"/>
            <a:ext cx="3657600" cy="4114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114757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FastGPT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部署方式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0" y="16459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开源自部署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0" y="16459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SaaS云服务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430000" y="16459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9" name="Text 17"/>
          <p:cNvSpPr/>
          <p:nvPr/>
        </p:nvSpPr>
        <p:spPr>
          <a:xfrm>
            <a:off x="1147572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开源自部署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1031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模型支持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0" y="21031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23" name="Text 21"/>
          <p:cNvSpPr/>
          <p:nvPr/>
        </p:nvSpPr>
        <p:spPr>
          <a:xfrm>
            <a:off x="416052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22本地+云端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0" y="21031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25" name="Text 23"/>
          <p:cNvSpPr/>
          <p:nvPr/>
        </p:nvSpPr>
        <p:spPr>
          <a:xfrm>
            <a:off x="781812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仅云端API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430000" y="21031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27" name="Text 25"/>
          <p:cNvSpPr/>
          <p:nvPr/>
        </p:nvSpPr>
        <p:spPr>
          <a:xfrm>
            <a:off x="1147572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本地+云端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5603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数据隐私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0" y="25603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1" name="Text 29"/>
          <p:cNvSpPr/>
          <p:nvPr/>
        </p:nvSpPr>
        <p:spPr>
          <a:xfrm>
            <a:off x="416052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完全本地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72400" y="25603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3" name="Text 31"/>
          <p:cNvSpPr/>
          <p:nvPr/>
        </p:nvSpPr>
        <p:spPr>
          <a:xfrm>
            <a:off x="781812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数据上传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430000" y="25603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5" name="Text 33"/>
          <p:cNvSpPr/>
          <p:nvPr/>
        </p:nvSpPr>
        <p:spPr>
          <a:xfrm>
            <a:off x="1147572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完全本地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0175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应用市场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0" y="30175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39" name="Text 37"/>
          <p:cNvSpPr/>
          <p:nvPr/>
        </p:nvSpPr>
        <p:spPr>
          <a:xfrm>
            <a:off x="416052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社区模板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72400" y="30175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41" name="Text 39"/>
          <p:cNvSpPr/>
          <p:nvPr/>
        </p:nvSpPr>
        <p:spPr>
          <a:xfrm>
            <a:off x="781812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Bot商店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1430000" y="30175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43" name="Text 41"/>
          <p:cNvSpPr/>
          <p:nvPr/>
        </p:nvSpPr>
        <p:spPr>
          <a:xfrm>
            <a:off x="1147572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有限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4747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插件生态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14800" y="34747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7" name="Text 45"/>
          <p:cNvSpPr/>
          <p:nvPr/>
        </p:nvSpPr>
        <p:spPr>
          <a:xfrm>
            <a:off x="416052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71个插件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772400" y="34747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9" name="Text 47"/>
          <p:cNvSpPr/>
          <p:nvPr/>
        </p:nvSpPr>
        <p:spPr>
          <a:xfrm>
            <a:off x="781812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丰富插件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1430000" y="34747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1" name="Text 49"/>
          <p:cNvSpPr/>
          <p:nvPr/>
        </p:nvSpPr>
        <p:spPr>
          <a:xfrm>
            <a:off x="1147572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较少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39319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114800" y="39319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55" name="Text 53"/>
          <p:cNvSpPr/>
          <p:nvPr/>
        </p:nvSpPr>
        <p:spPr>
          <a:xfrm>
            <a:off x="4160520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可视化编排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772400" y="39319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57" name="Text 55"/>
          <p:cNvSpPr/>
          <p:nvPr/>
        </p:nvSpPr>
        <p:spPr>
          <a:xfrm>
            <a:off x="7818120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Bot编排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1430000" y="39319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59" name="Text 57"/>
          <p:cNvSpPr/>
          <p:nvPr/>
        </p:nvSpPr>
        <p:spPr>
          <a:xfrm>
            <a:off x="11475720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工作流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43891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61" name="Text 59"/>
          <p:cNvSpPr/>
          <p:nvPr/>
        </p:nvSpPr>
        <p:spPr>
          <a:xfrm>
            <a:off x="50292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知识库RAG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0" y="43891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63" name="Text 61"/>
          <p:cNvSpPr/>
          <p:nvPr/>
        </p:nvSpPr>
        <p:spPr>
          <a:xfrm>
            <a:off x="416052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完整(索引/检索)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72400" y="43891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65" name="Text 63"/>
          <p:cNvSpPr/>
          <p:nvPr/>
        </p:nvSpPr>
        <p:spPr>
          <a:xfrm>
            <a:off x="781812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知识库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1430000" y="43891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67" name="Text 65"/>
          <p:cNvSpPr/>
          <p:nvPr/>
        </p:nvSpPr>
        <p:spPr>
          <a:xfrm>
            <a:off x="1147572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核心功能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48463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69" name="Text 67"/>
          <p:cNvSpPr/>
          <p:nvPr/>
        </p:nvSpPr>
        <p:spPr>
          <a:xfrm>
            <a:off x="502920" y="4892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HPA扩缩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114800" y="48463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71" name="Text 69"/>
          <p:cNvSpPr/>
          <p:nvPr/>
        </p:nvSpPr>
        <p:spPr>
          <a:xfrm>
            <a:off x="4160520" y="4892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K8s原生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772400" y="48463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73" name="Text 71"/>
          <p:cNvSpPr/>
          <p:nvPr/>
        </p:nvSpPr>
        <p:spPr>
          <a:xfrm>
            <a:off x="7818120" y="4892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不支持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1430000" y="48463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75" name="Text 73"/>
          <p:cNvSpPr/>
          <p:nvPr/>
        </p:nvSpPr>
        <p:spPr>
          <a:xfrm>
            <a:off x="11475720" y="4892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K8s支持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57200" y="53035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77" name="Text 75"/>
          <p:cNvSpPr/>
          <p:nvPr/>
        </p:nvSpPr>
        <p:spPr>
          <a:xfrm>
            <a:off x="502920" y="5349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局域网访问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114800" y="53035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79" name="Text 77"/>
          <p:cNvSpPr/>
          <p:nvPr/>
        </p:nvSpPr>
        <p:spPr>
          <a:xfrm>
            <a:off x="4160520" y="5349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无需外网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772400" y="53035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81" name="Text 79"/>
          <p:cNvSpPr/>
          <p:nvPr/>
        </p:nvSpPr>
        <p:spPr>
          <a:xfrm>
            <a:off x="7818120" y="5349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需外网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1430000" y="5303520"/>
            <a:ext cx="3657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83" name="Text 81"/>
          <p:cNvSpPr/>
          <p:nvPr/>
        </p:nvSpPr>
        <p:spPr>
          <a:xfrm>
            <a:off x="11475720" y="5349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无需外网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57200" y="57607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85" name="Text 83"/>
          <p:cNvSpPr/>
          <p:nvPr/>
        </p:nvSpPr>
        <p:spPr>
          <a:xfrm>
            <a:off x="502920" y="5806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教学场景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0" y="57607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87" name="Text 85"/>
          <p:cNvSpPr/>
          <p:nvPr/>
        </p:nvSpPr>
        <p:spPr>
          <a:xfrm>
            <a:off x="4160520" y="5806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工业互联网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772400" y="57607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89" name="Text 87"/>
          <p:cNvSpPr/>
          <p:nvPr/>
        </p:nvSpPr>
        <p:spPr>
          <a:xfrm>
            <a:off x="7818120" y="5806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通用场景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1430000" y="5760720"/>
            <a:ext cx="3657600" cy="4114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91" name="Text 89"/>
          <p:cNvSpPr/>
          <p:nvPr/>
        </p:nvSpPr>
        <p:spPr>
          <a:xfrm>
            <a:off x="11475720" y="5806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知识问答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Dify 平台核心优势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数据安全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完全本地化部署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数据不出局域网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符合教育数据保护要求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319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Coze:数据上传云端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Dify Cloud:数据在AWS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486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教学适配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22个本地模型可选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工业互联网场景验证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多语言编程支持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8408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glm4:9b中文最优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qwen2.5-coder编程专用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bge-m3知识库嵌入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5486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可定制性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开源代码可修改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71个插件生态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自定义工作流编排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31920" y="3474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Coze:黑盒不可改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FastGPT:插件更多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309360" y="3017520"/>
            <a:ext cx="5486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性能可控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4747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HPA自动扩缩容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Ollama并行推理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8 Cluster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784080" y="3474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2000并发压测通过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NUM_PARALLEL=8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KEEP_ALIVE=-1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5486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754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局域网可用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120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无需互联网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IP直连访问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NodePort服务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31920" y="5120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所有服务IP可达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无需DNS配置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离线运行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运维与监控体系</a:t>
            </a:r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运维体系总览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Rancher 集群管理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2集群: local + dify-cluster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2节点: master + worker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状态: active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凭据: admin / Rancher@2026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https://10.167.2.175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486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508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监控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33个仪表盘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Platform面板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Services面板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Infrastructure面板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http://10.167.2.175:30082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uPkH7M52...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486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69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8 Cluster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8.10.1, 3主节点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cluster_state: 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30095局域网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密码: difyai123456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10.167.2.175:30095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3931920"/>
            <a:ext cx="5486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69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AI编程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45720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52个扩展插件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Java/Go/Rust/Python/C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Continue.dev + Claude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本地模型AI辅助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/code-server/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密码: Dify@2026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Grafana 监控面板详情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743200" cy="1188720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Platform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API响应时间/请求量/错误率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真实数据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743200" cy="1188720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463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Services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模型调用/Tokens/延迟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2044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真实数据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743200" cy="1188720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463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CPU/内存/磁盘/网络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4652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真实数据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235440" y="1371600"/>
            <a:ext cx="2743200" cy="1188720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1463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7260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IDE使用/连接数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37260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真实数据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2743200" cy="1188720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Pod状态/节点资源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真实数据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2743200"/>
            <a:ext cx="2743200" cy="1188720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Exporter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2044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系统级监控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20440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真实数据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9360" y="2743200"/>
            <a:ext cx="2743200" cy="1188720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4652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告警规则/通知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46520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235440" y="2743200"/>
            <a:ext cx="2743200" cy="1188720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7260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7260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日志聚合/搜索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372600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运行中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Redis 8 Cluster 详细信息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0972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8.10.1 Cluster (3主节点)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版本: Redis 8.10.1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模式: Cluster (3主节点, 无副本)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状态: cluster_state:ok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槽位: 16384/16384 全覆盖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密码: difyai123456 (无用户名)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内存: 256MB/节点, allkeys-lru淘汰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节点信息: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Node 0 (redis8-0): 192.168.235.216:6379  槽位 0-5460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Node 1 (redis8-1): 192.168.235.203:6379  槽位 5461-10922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Node 2 (redis8-2): 192.168.235.198:6379  槽位 10923-16383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局域网访问: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NodePort: 10.167.2.175:30095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redis-cli -h 10.167.2.175 -p 30095 -a difyai123456 -c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注意: Dify使用Redis 7单节点(兼容性), Redis 8 Cluster供局域网其他应用使用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测试成果</a:t>
            </a:r>
            <a:endParaRPr lang="en-US" sz="2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测试成果汇总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743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功能测试用例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43/43 通过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失败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743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645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8328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模型对比测试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36/36 通过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6模型×6场景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743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45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30936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总通过率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失败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跳过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35440" y="1371600"/>
            <a:ext cx="2743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645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2,000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23544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压测峰值用户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3544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HPA自动扩容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验证通过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测试覆盖范围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认证登录 · 聊天(阻塞/流式) · 多轮对话 · 知识库(创建/检索) · 工作流执行 · Agent应用 · 对话管理 · 文件上传 · 应用CRUD · 模型连通性 · 嵌入模型 · 基础设施 · 教学场景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功能测试详细覆盖 (43项)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类别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0" y="1280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覆盖功能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10972800" cy="27432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64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0" y="16642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5项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0" y="16642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登录/资料/工作空间/CSRF/Setup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058400" y="16642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✅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938528"/>
            <a:ext cx="10972800" cy="274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5681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应用管理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0" y="195681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0" y="195681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列表/模式/详情/API Key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058400" y="195681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 ✅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231136"/>
            <a:ext cx="10972800" cy="27432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2494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模型提供商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0" y="224942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4项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0" y="224942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列表/Ollama/Tongyi/OpenAI-compat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0058400" y="22494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 ✅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523744"/>
            <a:ext cx="10972800" cy="274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5420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0" y="2542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3项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0" y="2542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Key/输入发现/阻塞聊天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058400" y="2542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✅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816352"/>
            <a:ext cx="10972800" cy="27432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流式聊天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0" y="2834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1项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0" y="2834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SSE事件流验证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0058400" y="2834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 ✅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108960"/>
            <a:ext cx="10972800" cy="274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多轮对话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0" y="3127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1项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0" y="312724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上下文保持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058400" y="31272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 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401568"/>
            <a:ext cx="10972800" cy="27432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4198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对话管理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0" y="34198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3项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657600" y="341985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列表/历史/反馈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0058400" y="34198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✅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3694176"/>
            <a:ext cx="10972800" cy="274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7124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43200" y="37124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4项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0" y="371246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数据集/详情/文档/检索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0058400" y="37124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 ✅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3986784"/>
            <a:ext cx="10972800" cy="27432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0050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743200" y="40050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2项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657600" y="40050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Key/执行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0058400" y="40050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 ✅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4279392"/>
            <a:ext cx="10972800" cy="274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297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43200" y="4297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1项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657600" y="4297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遍历advanced-chat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0058400" y="4297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 ✅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45902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文件上传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743200" y="45902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1项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657600" y="459028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控制台上传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0058400" y="45902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 ✅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57200" y="4864608"/>
            <a:ext cx="10972800" cy="274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48828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应用CRUD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743200" y="488289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2项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657600" y="488289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创建/删除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10058400" y="48828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 ✅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57200" y="5157216"/>
            <a:ext cx="10972800" cy="27432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" y="51755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743200" y="517550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7项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657600" y="517550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Dify/LiteLLM/Ollama/Grafana/Rancher/CodeServer/Redis8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0058400" y="51755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 ✅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57200" y="5449824"/>
            <a:ext cx="10972800" cy="274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74" name="Text 72"/>
          <p:cNvSpPr/>
          <p:nvPr/>
        </p:nvSpPr>
        <p:spPr>
          <a:xfrm>
            <a:off x="457200" y="54681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教学场景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2743200" y="54681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2项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657600" y="54681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工业互联网/PLC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10058400" y="54681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 ✅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57200" y="5742432"/>
            <a:ext cx="10972800" cy="27432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79" name="Text 77"/>
          <p:cNvSpPr/>
          <p:nvPr/>
        </p:nvSpPr>
        <p:spPr>
          <a:xfrm>
            <a:off x="457200" y="5760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LLM连通性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2743200" y="5760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3项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657600" y="57607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qwen2.5-coder/glm4/qwen3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0058400" y="5760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✅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84" name="Text 82"/>
          <p:cNvSpPr/>
          <p:nvPr/>
        </p:nvSpPr>
        <p:spPr>
          <a:xfrm>
            <a:off x="457200" y="6053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嵌入模型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2743200" y="60533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1项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657600" y="60533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1024维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0058400" y="60533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 ✅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模型连通性测试 (6模型×6场景)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36项测试 100%通过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IIoT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3192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41832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8992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645920"/>
            <a:ext cx="11430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737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qwen2.5-coder:7b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0" y="1737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31920" y="1737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1737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0" y="1737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0" y="1737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418320" y="1737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17373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331720"/>
            <a:ext cx="11430000" cy="594360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423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glm4:9b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60320" y="2423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31920" y="2423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0" y="2423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2423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2423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418320" y="2423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24231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017520"/>
            <a:ext cx="11430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3108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qwen3:4b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60320" y="3108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89.6s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31920" y="3108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39.0s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0" y="3108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25.9s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75120" y="3108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29.7s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0" y="3108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418320" y="3108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30.3s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0" y="31089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703320"/>
            <a:ext cx="11430000" cy="594360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3794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60320" y="3794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79.2s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931920" y="3794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128.6s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03520" y="3794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75120" y="3794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46720" y="3794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418320" y="3794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67.2s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789920" y="37947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389120"/>
            <a:ext cx="11430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4480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yi:6b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560320" y="4480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931920" y="4480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43.3s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03520" y="4480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44.0s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75120" y="4480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41.0s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46720" y="4480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418320" y="4480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789920" y="44805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74320" y="5074920"/>
            <a:ext cx="11430000" cy="594360"/>
          </a:xfrm>
          <a:prstGeom prst="rect">
            <a:avLst/>
          </a:prstGeom>
          <a:solidFill>
            <a:srgbClr val="E4E8EE"/>
          </a:solidFill>
          <a:ln/>
        </p:spPr>
      </p:sp>
      <p:sp>
        <p:nvSpPr>
          <p:cNvPr id="59" name="Text 57"/>
          <p:cNvSpPr/>
          <p:nvPr/>
        </p:nvSpPr>
        <p:spPr>
          <a:xfrm>
            <a:off x="274320" y="5166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560320" y="5166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931920" y="5166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303520" y="5166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675120" y="5166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046720" y="5166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418320" y="5166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789920" y="51663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2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部署成果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8大核心成果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Dify 1.14.2 完整部署, 27个应用100%可用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8288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22个本地AI模型 (Qwen3/GLM4/YI/Llama3.1全系列)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43+36=79项测试, 100%通过率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32004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HPA自动扩缩容, 2000并发压测验证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Redis 8.10.1 Cluster (3主节点, 局域网可访问)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45720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Code-Server 52插件 (Java/Go/Rust/Python/C AI编程)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5943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Grafana 33面板 + Rancher 2集群管理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5943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工业互联网教学场景验证 (GLM4中文最优)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未来规划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6576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 (1-3月)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升级OS到RHEL8/Ubuntu22.04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迁移Cilium eBPF CNI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GPU加速Ollama推理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增加Redis8副本节点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解决跨节点Pod网络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支持更多并发推理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高可用Redis Cluster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6576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 (3-6月)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1031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工业互联网数字孪生应用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更多教学知识库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学生作业自动评分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实验报告AI辅助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43891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完善教学场景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自动评估体系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教学资源管理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21040" y="1371600"/>
            <a:ext cx="36576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 (6-12月)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0" y="21031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多院系AI平台共享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边缘节点部署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大模型72b常态化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AI教学评估报告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03920" y="43891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平台规模化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边缘计算教学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科研辅助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智能体服务平台 · 本地化部署成果汇报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工业互联网应用专业 · AI 教学平台 · 2026年8月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2026-09-02T04:16:31Z</dcterms:created>
  <dcterms:modified xsi:type="dcterms:W3CDTF">2026-09-02T04:16:31Z</dcterms:modified>
</cp:coreProperties>
</file>