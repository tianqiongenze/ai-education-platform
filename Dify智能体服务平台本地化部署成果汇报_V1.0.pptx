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9" Type="http://schemas.openxmlformats.org/officeDocument/2006/relationships/tableStyles" Target="tableStyles.xml"/><Relationship Id="rId108" Type="http://schemas.openxmlformats.org/officeDocument/2006/relationships/viewProps" Target="viewProps.xml"/><Relationship Id="rId107" Type="http://schemas.openxmlformats.org/officeDocument/2006/relationships/presProps" Target="presProps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Shape 2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E2A48"/>
          </a:solidFill>
        </p:spPr>
      </p:sp>
      <p:sp>
        <p:nvSpPr>
          <p:cNvPr id="5" name="Shape 3"/>
          <p:cNvSpPr/>
          <p:nvPr/>
        </p:nvSpPr>
        <p:spPr>
          <a:xfrm>
            <a:off x="9692640" y="4114800"/>
            <a:ext cx="3657600" cy="3657600"/>
          </a:xfrm>
          <a:prstGeom prst="ellipse">
            <a:avLst/>
          </a:prstGeom>
          <a:solidFill>
            <a:srgbClr val="0E2A48"/>
          </a:solidFill>
        </p:spPr>
      </p:sp>
      <p:sp>
        <p:nvSpPr>
          <p:cNvPr id="6" name="Text 4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智能体服务平台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本地化部署成果汇报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320040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工业互联网应用专业  ·  AI 教学平台  ·  2026年8月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4297680"/>
            <a:ext cx="2286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731520" y="438912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" y="5056632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应用数量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4297680"/>
            <a:ext cx="2286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3520440" y="438912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520440" y="5056632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本地模型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297680"/>
            <a:ext cx="2286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309360" y="438912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309360" y="5056632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测试通过率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828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4297680"/>
            <a:ext cx="2286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9098280" y="438912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8.10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098280" y="5056632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版本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汇报人：Dify 平台运维团队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汇报内容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640080" y="1298448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28016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平台架构总览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集群 · 服务部署 · 网络访问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88720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6309360" y="1298448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95160" y="128016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模型部署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164592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模型 · LiteLLM 网关 · 多模型对比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267712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67712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640080" y="2377440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235915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 平台功能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272491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 应用 · 知识库 · 工作流 · Agent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2267712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267712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309360" y="2377440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95160" y="235915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工业互联网教学应用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72491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· 传感器 · MES · 数字孪生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346704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346704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8" name="Text 26"/>
          <p:cNvSpPr/>
          <p:nvPr/>
        </p:nvSpPr>
        <p:spPr>
          <a:xfrm>
            <a:off x="640080" y="3456432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25880" y="343814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Code-Server AI 编程环境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380390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 插件 · Continue.dev · 自动评分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346704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346704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6309360" y="3456432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95160" y="343814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性能与压力测试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380390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· k6/Locust · 5000 VU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425696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425696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8" name="Text 36"/>
          <p:cNvSpPr/>
          <p:nvPr/>
        </p:nvSpPr>
        <p:spPr>
          <a:xfrm>
            <a:off x="640080" y="4535424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325880" y="4517136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平台对比分析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25880" y="4882896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vs Coze vs FastGPT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4425696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4425696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3" name="Text 41"/>
          <p:cNvSpPr/>
          <p:nvPr/>
        </p:nvSpPr>
        <p:spPr>
          <a:xfrm>
            <a:off x="6309360" y="4535424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995160" y="4517136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运维与监控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95160" y="4882896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 · Grafana · Redis 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5504688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5504688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8" name="Text 46"/>
          <p:cNvSpPr/>
          <p:nvPr/>
        </p:nvSpPr>
        <p:spPr>
          <a:xfrm>
            <a:off x="640080" y="5614416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09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25880" y="559612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测试成果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325880" y="596188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 + 36 + 33 项测试 100% 通过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26480" y="5504688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5504688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3" name="Text 51"/>
          <p:cNvSpPr/>
          <p:nvPr/>
        </p:nvSpPr>
        <p:spPr>
          <a:xfrm>
            <a:off x="6309360" y="5614416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995160" y="559612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总结与展望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95160" y="596188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 · 经验 · 未来规划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Shape 5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0" name="Text 5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平台架构总览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双节点集群 · Master + Worker · 全栈服务部署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集群拓扑架构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097280"/>
            <a:ext cx="5212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Master  节点  ·  10.167.2.175  ·  128GB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API  (3 副本 · 8Gi)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27685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76856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Web  (2 副本)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72491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2491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Worker  (3 副本)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7296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Plugin Daemon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62102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21024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 (持久化)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7  (Dify 缓存)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451713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17136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8 Cluster  (3 节点)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96519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6519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  +  Loki  监控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541324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41324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  管理平面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586130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861304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Ingress-Nginx  (2 副本)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45352" y="1097280"/>
            <a:ext cx="5486400" cy="5303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1097280"/>
            <a:ext cx="548640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2" name="Text 30"/>
          <p:cNvSpPr/>
          <p:nvPr/>
        </p:nvSpPr>
        <p:spPr>
          <a:xfrm>
            <a:off x="6382512" y="1097280"/>
            <a:ext cx="5212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Worker  节点  ·  10.167.2.176  ·  128GB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28232" y="182880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182880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 网关  (2 副本 · 4CPU)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28232" y="227685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2276856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 (26 模型 · NUM_PARALLEL=8)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28232" y="272491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72491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 (3 副本 · 52 插件)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28232" y="317296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317296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Plugin Daemon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28232" y="362102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65392" y="3621024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Worker  (任务执行)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28232" y="406908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4069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Sandbox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28232" y="451713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4517136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Weaviate  向量库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28232" y="496519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5392" y="496519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PgBouncer  连接池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28232" y="541324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541324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 Exporter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28232" y="586130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65392" y="5861304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 +  Loki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4" name="Shape 5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7" name="Text 5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网络架构与访问方式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261872"/>
            <a:ext cx="186537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42032" y="1261872"/>
            <a:ext cx="31455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访问地址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33872" y="126187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访问方式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11312" y="1261872"/>
            <a:ext cx="186537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验证结果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22992" y="1261872"/>
            <a:ext cx="14356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973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75157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12901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1014069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64592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6642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控制台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59736" y="1645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2542032" y="16642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https://10.167.2.175:31825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51576" y="1645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5833872" y="16642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 · 无需 hosts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29016" y="1645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8211312" y="16642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307 → 登录页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40696" y="1645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10222992" y="16642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1214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59736" y="2103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2542032" y="21214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https://10.167.2.175:31825/v1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51576" y="2103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833872" y="21214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29016" y="2103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8211312" y="21214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程序化调用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140696" y="2103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10222992" y="21214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56032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5786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459736" y="2560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2542032" y="25786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http://10.167.2.175:30087/vscode/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51576" y="2560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5833872" y="25786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Caddy 代理 strip_prefix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29016" y="2560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8211312" y="25786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302 → IDE 页面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140696" y="2560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10222992" y="25786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01752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0358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JupyterLab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459736" y="3017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542032" y="30358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http://10.167.2.175:30088/jupyter/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51576" y="3017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833872" y="30358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原生子路径 base_url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29016" y="3017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211312" y="30358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302 → Lab 页面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140696" y="3017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10222992" y="30358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4930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 网关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459736" y="3474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2542032" y="34930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http://10.167.2.176:30083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751576" y="3474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833872" y="34930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129016" y="3474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8211312" y="34930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模型路由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140696" y="3474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10222992" y="34930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39502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459736" y="3931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2542032" y="39502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http://10.167.2.176:30086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751576" y="3931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5833872" y="39502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29016" y="3931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8211312" y="39502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模型推理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140696" y="3931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10222992" y="39502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438912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44074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459736" y="4389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2542032" y="44074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http://10.167.2.175:30082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751576" y="4389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5833872" y="44074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129016" y="4389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8211312" y="44074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 面板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0140696" y="4389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10222992" y="44074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48646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459736" y="4846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2542032" y="48646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https://10.167.2.175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751576" y="4846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5833872" y="48646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8129016" y="4846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8211312" y="48646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集群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10140696" y="4846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10222992" y="48646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8" name="Text 96"/>
          <p:cNvSpPr/>
          <p:nvPr/>
        </p:nvSpPr>
        <p:spPr>
          <a:xfrm>
            <a:off x="530352" y="53218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8 Cluster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2459736" y="5303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0" name="Text 98"/>
          <p:cNvSpPr/>
          <p:nvPr/>
        </p:nvSpPr>
        <p:spPr>
          <a:xfrm>
            <a:off x="2542032" y="53218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10.167.2.175:30090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5751576" y="5303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2" name="Text 100"/>
          <p:cNvSpPr/>
          <p:nvPr/>
        </p:nvSpPr>
        <p:spPr>
          <a:xfrm>
            <a:off x="5833872" y="53218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 直连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8129016" y="5303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4" name="Text 102"/>
          <p:cNvSpPr/>
          <p:nvPr/>
        </p:nvSpPr>
        <p:spPr>
          <a:xfrm>
            <a:off x="8211312" y="53218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主节点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10140696" y="5303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6" name="Text 104"/>
          <p:cNvSpPr/>
          <p:nvPr/>
        </p:nvSpPr>
        <p:spPr>
          <a:xfrm>
            <a:off x="10222992" y="53218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8" name="Text 106"/>
          <p:cNvSpPr/>
          <p:nvPr/>
        </p:nvSpPr>
        <p:spPr>
          <a:xfrm>
            <a:off x="530352" y="57790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Mailpit 邮件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2459736" y="5760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0" name="Text 108"/>
          <p:cNvSpPr/>
          <p:nvPr/>
        </p:nvSpPr>
        <p:spPr>
          <a:xfrm>
            <a:off x="2542032" y="57790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http://10.167.2.175:30205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5751576" y="5760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2" name="Text 110"/>
          <p:cNvSpPr/>
          <p:nvPr/>
        </p:nvSpPr>
        <p:spPr>
          <a:xfrm>
            <a:off x="5833872" y="57790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 · 无需登录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8129016" y="5760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4" name="Text 112"/>
          <p:cNvSpPr/>
          <p:nvPr/>
        </p:nvSpPr>
        <p:spPr>
          <a:xfrm>
            <a:off x="8211312" y="57790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SMTP 邮件查看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10140696" y="5760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6" name="Text 114"/>
          <p:cNvSpPr/>
          <p:nvPr/>
        </p:nvSpPr>
        <p:spPr>
          <a:xfrm>
            <a:off x="10222992" y="57790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457200" y="1234440"/>
            <a:ext cx="11274552" cy="49834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57200" y="618109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所有服务均通过 NodePort / 路径路由暴露，支持纯内网访问，无需公网与 DNS。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20" name="Shape 1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1" name="Text 11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23" name="Text 12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模型部署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个本地模型 · LiteLLM 统一网关 · 36 项场景对比测试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 模型部署总览（26 个本地模型）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703320" cy="493776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37033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548640" y="12344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Qwen3 系列（最新 · 推荐）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 (2GB) · 快速问答 thinking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756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 (5GB) · 通用教学 thinking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682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 (9GB) · 深度推理 thinking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6090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qwen3:30b-a3b (18GB) · MoE 专家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953512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qwen3:32b (20GB) · 旗舰推理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qwen3-embedding:0.6b · 1024 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53872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qwen3-embedding:4b · 2560 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83133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qwen3-embedding:8b · 4096 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70832" y="1234440"/>
            <a:ext cx="3703320" cy="493776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23444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4462272" y="12344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Qwen2.5 系列（经典）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7992" y="17830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qwen2.5:7b/14b/32b/72b · 通用对话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07992" y="20756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qwen2.5-coder:7b/14b · 编程专用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07992" y="23682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deepseek-r1:7b/14b/32b · 深度推理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07992" y="266090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 · 1024 维嵌入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07992" y="2953512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nomic-embed-text · 137 维轻量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84464" y="1234440"/>
            <a:ext cx="3703320" cy="493776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84464" y="1234440"/>
            <a:ext cx="370332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8" name="Text 26"/>
          <p:cNvSpPr/>
          <p:nvPr/>
        </p:nvSpPr>
        <p:spPr>
          <a:xfrm>
            <a:off x="8375904" y="12344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其他模型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21624" y="17830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 (5.5GB) · 中文最强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21624" y="20756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 (3.5GB) · 中文通用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21624" y="23682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llama3.1:8b (4.9GB) · 通用最快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21624" y="266090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llama3.2-vision:11b · 多模态视觉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21624" y="2953512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tinyllama (637MB) · 极轻量测试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21624" y="324612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llava · 视觉理解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 个 Ollama 模型 · 26 个 LiteLLM 路由 · Dify 全部注册可用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7" name="Shap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0" name="Text 3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Qwen3 系列模型详细介绍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438912" y="117043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67712" y="1170432"/>
            <a:ext cx="7680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82112" y="11704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推理速度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45152" y="1170432"/>
            <a:ext cx="35112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教学场景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02752" y="1170432"/>
            <a:ext cx="344728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使用建议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854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0998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628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2204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65760" y="1554480"/>
            <a:ext cx="11457432" cy="86868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8" name="Text 16"/>
          <p:cNvSpPr/>
          <p:nvPr/>
        </p:nvSpPr>
        <p:spPr>
          <a:xfrm>
            <a:off x="438912" y="1572768"/>
            <a:ext cx="16824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85416" y="155448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2267712" y="1572768"/>
            <a:ext cx="7680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2GB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99816" y="155448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3182112" y="1572768"/>
            <a:ext cx="131673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10–30s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62856" y="155448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4645152" y="1572768"/>
            <a:ext cx="35112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工业互联网基础概念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传感器原理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边缘计算基础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0456" y="155448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8302752" y="1572768"/>
            <a:ext cx="3447288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快速问答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课堂即时互动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 自动补全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423160"/>
            <a:ext cx="1145743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8" name="Text 26"/>
          <p:cNvSpPr/>
          <p:nvPr/>
        </p:nvSpPr>
        <p:spPr>
          <a:xfrm>
            <a:off x="438912" y="2441448"/>
            <a:ext cx="16824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85416" y="242316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2267712" y="2441448"/>
            <a:ext cx="7680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5GB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99816" y="242316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2" name="Text 30"/>
          <p:cNvSpPr/>
          <p:nvPr/>
        </p:nvSpPr>
        <p:spPr>
          <a:xfrm>
            <a:off x="3182112" y="2441448"/>
            <a:ext cx="131673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30–90s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62856" y="242316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4645152" y="2441448"/>
            <a:ext cx="35112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工业以太网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数字孪生基础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0456" y="242316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8302752" y="2441448"/>
            <a:ext cx="3447288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实验指导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课后答疑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291840"/>
            <a:ext cx="11457432" cy="86868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8" name="Text 36"/>
          <p:cNvSpPr/>
          <p:nvPr/>
        </p:nvSpPr>
        <p:spPr>
          <a:xfrm>
            <a:off x="438912" y="3310128"/>
            <a:ext cx="16824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85416" y="329184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8"/>
          <p:cNvSpPr/>
          <p:nvPr/>
        </p:nvSpPr>
        <p:spPr>
          <a:xfrm>
            <a:off x="2267712" y="3310128"/>
            <a:ext cx="7680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9GB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099816" y="329184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3182112" y="3310128"/>
            <a:ext cx="131673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60–180s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62856" y="329184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4" name="Text 42"/>
          <p:cNvSpPr/>
          <p:nvPr/>
        </p:nvSpPr>
        <p:spPr>
          <a:xfrm>
            <a:off x="4645152" y="3310128"/>
            <a:ext cx="35112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 制造执行系统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工业物联网安全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复杂场景分析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20456" y="329184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8302752" y="3310128"/>
            <a:ext cx="3447288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课程设计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论文辅导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160520"/>
            <a:ext cx="1145743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8" name="Text 46"/>
          <p:cNvSpPr/>
          <p:nvPr/>
        </p:nvSpPr>
        <p:spPr>
          <a:xfrm>
            <a:off x="438912" y="4178808"/>
            <a:ext cx="16824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qwen3:30b-a3b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185416" y="416052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2267712" y="4178808"/>
            <a:ext cx="7680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17GB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099816" y="416052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3182112" y="4178808"/>
            <a:ext cx="131673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15–60s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62856" y="416052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2"/>
          <p:cNvSpPr/>
          <p:nvPr/>
        </p:nvSpPr>
        <p:spPr>
          <a:xfrm>
            <a:off x="4645152" y="4178808"/>
            <a:ext cx="35112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复杂工业场景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系统设计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架构分析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20456" y="416052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6" name="Text 54"/>
          <p:cNvSpPr/>
          <p:nvPr/>
        </p:nvSpPr>
        <p:spPr>
          <a:xfrm>
            <a:off x="8302752" y="4178808"/>
            <a:ext cx="3447288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MoE 高效推理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30B 仅激活 3B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接近 8b 速度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5029200"/>
            <a:ext cx="11457432" cy="86868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8" name="Text 56"/>
          <p:cNvSpPr/>
          <p:nvPr/>
        </p:nvSpPr>
        <p:spPr>
          <a:xfrm>
            <a:off x="438912" y="5047488"/>
            <a:ext cx="16824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qwen3:32b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85416" y="502920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0" name="Text 58"/>
          <p:cNvSpPr/>
          <p:nvPr/>
        </p:nvSpPr>
        <p:spPr>
          <a:xfrm>
            <a:off x="2267712" y="5047488"/>
            <a:ext cx="7680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18GB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099816" y="502920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2" name="Text 60"/>
          <p:cNvSpPr/>
          <p:nvPr/>
        </p:nvSpPr>
        <p:spPr>
          <a:xfrm>
            <a:off x="3182112" y="5047488"/>
            <a:ext cx="131673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120–300s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562856" y="502920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4" name="Text 62"/>
          <p:cNvSpPr/>
          <p:nvPr/>
        </p:nvSpPr>
        <p:spPr>
          <a:xfrm>
            <a:off x="4645152" y="5047488"/>
            <a:ext cx="35112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旗舰推理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学术论文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科研分析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220456" y="502920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6" name="Text 64"/>
          <p:cNvSpPr/>
          <p:nvPr/>
        </p:nvSpPr>
        <p:spPr>
          <a:xfrm>
            <a:off x="8302752" y="5047488"/>
            <a:ext cx="3447288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最深层推理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复杂逻辑推理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/no_think 可加速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1143000"/>
            <a:ext cx="11457432" cy="4754880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推荐：教学主用 qwen3:8b，深度推理用 qwen3:14b/32b。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0" name="Shap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1" name="Text 6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3" name="Text 7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Qwen2.5 系列模型详细介绍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38404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438912" y="1170432"/>
            <a:ext cx="18653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50592" y="1170432"/>
            <a:ext cx="7680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64992" y="1170432"/>
            <a:ext cx="13167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推理速度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1170432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教学场景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02752" y="1170432"/>
            <a:ext cx="34472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使用建议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6829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28269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74573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22045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65760" y="1527048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8" name="Text 16"/>
          <p:cNvSpPr/>
          <p:nvPr/>
        </p:nvSpPr>
        <p:spPr>
          <a:xfrm>
            <a:off x="438912" y="1545336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qwen2.5:7b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68296" y="1527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2450592" y="1545336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4.7GB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82696" y="1527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3364992" y="154533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8–22s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45736" y="1527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4828032" y="1545336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通用对话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课堂问答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0456" y="1527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8302752" y="1545336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轻量通用教学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响应快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093976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8" name="Text 26"/>
          <p:cNvSpPr/>
          <p:nvPr/>
        </p:nvSpPr>
        <p:spPr>
          <a:xfrm>
            <a:off x="438912" y="2112264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qwen2.5:14b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68296" y="2093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2450592" y="2112264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9GB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82696" y="2093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2" name="Text 30"/>
          <p:cNvSpPr/>
          <p:nvPr/>
        </p:nvSpPr>
        <p:spPr>
          <a:xfrm>
            <a:off x="3364992" y="211226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20–60s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45736" y="2093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4828032" y="2112264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深度对话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知识讲解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0456" y="2093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8302752" y="2112264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更高质量对话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中长篇生成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660904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8" name="Text 36"/>
          <p:cNvSpPr/>
          <p:nvPr/>
        </p:nvSpPr>
        <p:spPr>
          <a:xfrm>
            <a:off x="438912" y="2679192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qwen2.5:32b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368296" y="266090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8"/>
          <p:cNvSpPr/>
          <p:nvPr/>
        </p:nvSpPr>
        <p:spPr>
          <a:xfrm>
            <a:off x="2450592" y="2679192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20GB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82696" y="266090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3364992" y="267919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60–200s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45736" y="266090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4" name="Text 42"/>
          <p:cNvSpPr/>
          <p:nvPr/>
        </p:nvSpPr>
        <p:spPr>
          <a:xfrm>
            <a:off x="4828032" y="2679192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论文写作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20456" y="266090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8302752" y="2679192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旗舰通用推理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备选 qwen3:32b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227832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8" name="Text 46"/>
          <p:cNvSpPr/>
          <p:nvPr/>
        </p:nvSpPr>
        <p:spPr>
          <a:xfrm>
            <a:off x="438912" y="3246120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qwen2.5:72b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68296" y="322783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2450592" y="3246120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42GB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82696" y="322783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3364992" y="324612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200s+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45736" y="322783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2"/>
          <p:cNvSpPr/>
          <p:nvPr/>
        </p:nvSpPr>
        <p:spPr>
          <a:xfrm>
            <a:off x="4828032" y="3246120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科研级任务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20456" y="322783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6" name="Text 54"/>
          <p:cNvSpPr/>
          <p:nvPr/>
        </p:nvSpPr>
        <p:spPr>
          <a:xfrm>
            <a:off x="8302752" y="3246120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最高质量通用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资源消耗大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3794760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8" name="Text 56"/>
          <p:cNvSpPr/>
          <p:nvPr/>
        </p:nvSpPr>
        <p:spPr>
          <a:xfrm>
            <a:off x="438912" y="381304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368296" y="379476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0" name="Text 58"/>
          <p:cNvSpPr/>
          <p:nvPr/>
        </p:nvSpPr>
        <p:spPr>
          <a:xfrm>
            <a:off x="2450592" y="3813048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4.7GB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82696" y="379476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2" name="Text 60"/>
          <p:cNvSpPr/>
          <p:nvPr/>
        </p:nvSpPr>
        <p:spPr>
          <a:xfrm>
            <a:off x="3364992" y="381304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3–31s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45736" y="379476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4" name="Text 62"/>
          <p:cNvSpPr/>
          <p:nvPr/>
        </p:nvSpPr>
        <p:spPr>
          <a:xfrm>
            <a:off x="4828032" y="3813048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编程教学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代码辅助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数据库 SQL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220456" y="379476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6" name="Text 64"/>
          <p:cNvSpPr/>
          <p:nvPr/>
        </p:nvSpPr>
        <p:spPr>
          <a:xfrm>
            <a:off x="8302752" y="3813048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专为代码优化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编程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361688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68" name="Text 66"/>
          <p:cNvSpPr/>
          <p:nvPr/>
        </p:nvSpPr>
        <p:spPr>
          <a:xfrm>
            <a:off x="438912" y="4379976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qwen2.5-coder:14b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368296" y="436168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0" name="Text 68"/>
          <p:cNvSpPr/>
          <p:nvPr/>
        </p:nvSpPr>
        <p:spPr>
          <a:xfrm>
            <a:off x="2450592" y="4379976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9GB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282696" y="436168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2" name="Text 70"/>
          <p:cNvSpPr/>
          <p:nvPr/>
        </p:nvSpPr>
        <p:spPr>
          <a:xfrm>
            <a:off x="3364992" y="437997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5–31s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45736" y="436168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4" name="Text 72"/>
          <p:cNvSpPr/>
          <p:nvPr/>
        </p:nvSpPr>
        <p:spPr>
          <a:xfrm>
            <a:off x="4828032" y="4379976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深度编程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复杂算法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220456" y="436168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6" name="Text 74"/>
          <p:cNvSpPr/>
          <p:nvPr/>
        </p:nvSpPr>
        <p:spPr>
          <a:xfrm>
            <a:off x="8302752" y="4379976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更准确代码生成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大作业批改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5760" y="4928616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8" name="Text 76"/>
          <p:cNvSpPr/>
          <p:nvPr/>
        </p:nvSpPr>
        <p:spPr>
          <a:xfrm>
            <a:off x="438912" y="4946904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deepseek-r1:7b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368296" y="492861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0" name="Text 78"/>
          <p:cNvSpPr/>
          <p:nvPr/>
        </p:nvSpPr>
        <p:spPr>
          <a:xfrm>
            <a:off x="2450592" y="4946904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4.7GB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282696" y="492861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2" name="Text 80"/>
          <p:cNvSpPr/>
          <p:nvPr/>
        </p:nvSpPr>
        <p:spPr>
          <a:xfrm>
            <a:off x="3364992" y="494690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30–90s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45736" y="492861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4" name="Text 82"/>
          <p:cNvSpPr/>
          <p:nvPr/>
        </p:nvSpPr>
        <p:spPr>
          <a:xfrm>
            <a:off x="4828032" y="4946904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数学证明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220456" y="492861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6" name="Text 84"/>
          <p:cNvSpPr/>
          <p:nvPr/>
        </p:nvSpPr>
        <p:spPr>
          <a:xfrm>
            <a:off x="8302752" y="4946904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 推理链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思维过程可见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65760" y="5495544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8" name="Text 86"/>
          <p:cNvSpPr/>
          <p:nvPr/>
        </p:nvSpPr>
        <p:spPr>
          <a:xfrm>
            <a:off x="438912" y="5513832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deepseek-r1:14b/32b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368296" y="549554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0" name="Text 88"/>
          <p:cNvSpPr/>
          <p:nvPr/>
        </p:nvSpPr>
        <p:spPr>
          <a:xfrm>
            <a:off x="2450592" y="5513832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9/20GB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282696" y="549554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2" name="Text 90"/>
          <p:cNvSpPr/>
          <p:nvPr/>
        </p:nvSpPr>
        <p:spPr>
          <a:xfrm>
            <a:off x="3364992" y="551383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60–300s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45736" y="549554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4" name="Text 92"/>
          <p:cNvSpPr/>
          <p:nvPr/>
        </p:nvSpPr>
        <p:spPr>
          <a:xfrm>
            <a:off x="4828032" y="5513832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数学建模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8220456" y="549554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6" name="Text 94"/>
          <p:cNvSpPr/>
          <p:nvPr/>
        </p:nvSpPr>
        <p:spPr>
          <a:xfrm>
            <a:off x="8302752" y="5513832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更强推理能力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备选 qwen3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1143000"/>
            <a:ext cx="11457432" cy="4919472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9" name="Shape 9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Text 9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2" name="Text 10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其他模型详细介绍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38404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438912" y="1170432"/>
            <a:ext cx="20482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33472" y="1170432"/>
            <a:ext cx="7680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47872" y="1170432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速度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1170432"/>
            <a:ext cx="30540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教学场景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170432"/>
            <a:ext cx="37216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详细介绍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5117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46557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74573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94613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65760" y="1527048"/>
            <a:ext cx="11457432" cy="5486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8" name="Text 16"/>
          <p:cNvSpPr/>
          <p:nvPr/>
        </p:nvSpPr>
        <p:spPr>
          <a:xfrm>
            <a:off x="438912" y="154533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51176" y="15270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2633472" y="154533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5.5GB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65576" y="15270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3547872" y="154533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7–13s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45736" y="15270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4828032" y="154533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中文教学最优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工业互联网/PLC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46136" y="15270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8028432" y="154533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Z.AI GLM4 · 中文理解最强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4/6 场景最快 · 多语言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075688"/>
            <a:ext cx="11457432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8" name="Text 26"/>
          <p:cNvSpPr/>
          <p:nvPr/>
        </p:nvSpPr>
        <p:spPr>
          <a:xfrm>
            <a:off x="438912" y="209397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51176" y="20756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2633472" y="209397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3.5GB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65576" y="20756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2" name="Text 30"/>
          <p:cNvSpPr/>
          <p:nvPr/>
        </p:nvSpPr>
        <p:spPr>
          <a:xfrm>
            <a:off x="3547872" y="209397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15–44s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45736" y="20756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4828032" y="209397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中文通用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网络通信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946136" y="20756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8028432" y="209397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零一万物 Yi · 中文能力强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轻量级部署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624328"/>
            <a:ext cx="11457432" cy="5486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8" name="Text 36"/>
          <p:cNvSpPr/>
          <p:nvPr/>
        </p:nvSpPr>
        <p:spPr>
          <a:xfrm>
            <a:off x="438912" y="264261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llama3.1:8b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51176" y="26243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8"/>
          <p:cNvSpPr/>
          <p:nvPr/>
        </p:nvSpPr>
        <p:spPr>
          <a:xfrm>
            <a:off x="2633472" y="264261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4.9GB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65576" y="26243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3547872" y="264261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10–28s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45736" y="26243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4" name="Text 42"/>
          <p:cNvSpPr/>
          <p:nvPr/>
        </p:nvSpPr>
        <p:spPr>
          <a:xfrm>
            <a:off x="4828032" y="264261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英文场景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946136" y="26243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8028432" y="264261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 Llama3.1 · 平均最快 18.5s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英文场景最优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172968"/>
            <a:ext cx="11457432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8" name="Text 46"/>
          <p:cNvSpPr/>
          <p:nvPr/>
        </p:nvSpPr>
        <p:spPr>
          <a:xfrm>
            <a:off x="438912" y="319125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llama3.2-vision:11b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51176" y="317296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2633472" y="319125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7GB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465576" y="317296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3547872" y="319125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30–90s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45736" y="317296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2"/>
          <p:cNvSpPr/>
          <p:nvPr/>
        </p:nvSpPr>
        <p:spPr>
          <a:xfrm>
            <a:off x="4828032" y="319125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多模态视觉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图像理解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946136" y="317296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6" name="Text 54"/>
          <p:cNvSpPr/>
          <p:nvPr/>
        </p:nvSpPr>
        <p:spPr>
          <a:xfrm>
            <a:off x="8028432" y="319125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支持图像输入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工业图像识别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3721608"/>
            <a:ext cx="11457432" cy="5486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8" name="Text 56"/>
          <p:cNvSpPr/>
          <p:nvPr/>
        </p:nvSpPr>
        <p:spPr>
          <a:xfrm>
            <a:off x="438912" y="373989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51176" y="372160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0" name="Text 58"/>
          <p:cNvSpPr/>
          <p:nvPr/>
        </p:nvSpPr>
        <p:spPr>
          <a:xfrm>
            <a:off x="2633472" y="373989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4.7GB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465576" y="372160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2" name="Text 60"/>
          <p:cNvSpPr/>
          <p:nvPr/>
        </p:nvSpPr>
        <p:spPr>
          <a:xfrm>
            <a:off x="3547872" y="373989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3–31s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45736" y="372160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4" name="Text 62"/>
          <p:cNvSpPr/>
          <p:nvPr/>
        </p:nvSpPr>
        <p:spPr>
          <a:xfrm>
            <a:off x="4828032" y="373989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编程教学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代码辅助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946136" y="372160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6" name="Text 64"/>
          <p:cNvSpPr/>
          <p:nvPr/>
        </p:nvSpPr>
        <p:spPr>
          <a:xfrm>
            <a:off x="8028432" y="373989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阿里 Qwen2.5 编程版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AI 编程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270248"/>
            <a:ext cx="11457432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68" name="Text 66"/>
          <p:cNvSpPr/>
          <p:nvPr/>
        </p:nvSpPr>
        <p:spPr>
          <a:xfrm>
            <a:off x="438912" y="428853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551176" y="42702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0" name="Text 68"/>
          <p:cNvSpPr/>
          <p:nvPr/>
        </p:nvSpPr>
        <p:spPr>
          <a:xfrm>
            <a:off x="2633472" y="428853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1.2GB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465576" y="42702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2" name="Text 70"/>
          <p:cNvSpPr/>
          <p:nvPr/>
        </p:nvSpPr>
        <p:spPr>
          <a:xfrm>
            <a:off x="3547872" y="428853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即时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45736" y="42702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4" name="Text 72"/>
          <p:cNvSpPr/>
          <p:nvPr/>
        </p:nvSpPr>
        <p:spPr>
          <a:xfrm>
            <a:off x="4828032" y="428853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知识库嵌入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检索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946136" y="42702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6" name="Text 74"/>
          <p:cNvSpPr/>
          <p:nvPr/>
        </p:nvSpPr>
        <p:spPr>
          <a:xfrm>
            <a:off x="8028432" y="428853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1024 维向量 · 多语言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中英双语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5760" y="4818888"/>
            <a:ext cx="11457432" cy="5486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8" name="Text 76"/>
          <p:cNvSpPr/>
          <p:nvPr/>
        </p:nvSpPr>
        <p:spPr>
          <a:xfrm>
            <a:off x="438912" y="483717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nomic-embed-text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551176" y="48188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0" name="Text 78"/>
          <p:cNvSpPr/>
          <p:nvPr/>
        </p:nvSpPr>
        <p:spPr>
          <a:xfrm>
            <a:off x="2633472" y="483717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274MB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465576" y="48188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2" name="Text 80"/>
          <p:cNvSpPr/>
          <p:nvPr/>
        </p:nvSpPr>
        <p:spPr>
          <a:xfrm>
            <a:off x="3547872" y="483717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即时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45736" y="48188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4" name="Text 82"/>
          <p:cNvSpPr/>
          <p:nvPr/>
        </p:nvSpPr>
        <p:spPr>
          <a:xfrm>
            <a:off x="4828032" y="483717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轻量嵌入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快速索引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946136" y="48188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6" name="Text 84"/>
          <p:cNvSpPr/>
          <p:nvPr/>
        </p:nvSpPr>
        <p:spPr>
          <a:xfrm>
            <a:off x="8028432" y="483717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 维向量 · 超轻量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65760" y="5367528"/>
            <a:ext cx="11457432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8" name="Text 86"/>
          <p:cNvSpPr/>
          <p:nvPr/>
        </p:nvSpPr>
        <p:spPr>
          <a:xfrm>
            <a:off x="438912" y="538581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tinyllama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551176" y="53675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0" name="Text 88"/>
          <p:cNvSpPr/>
          <p:nvPr/>
        </p:nvSpPr>
        <p:spPr>
          <a:xfrm>
            <a:off x="2633472" y="538581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637MB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465576" y="53675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2" name="Text 90"/>
          <p:cNvSpPr/>
          <p:nvPr/>
        </p:nvSpPr>
        <p:spPr>
          <a:xfrm>
            <a:off x="3547872" y="538581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极快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45736" y="53675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4" name="Text 92"/>
          <p:cNvSpPr/>
          <p:nvPr/>
        </p:nvSpPr>
        <p:spPr>
          <a:xfrm>
            <a:off x="4828032" y="538581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极轻量测试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946136" y="53675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6" name="Text 94"/>
          <p:cNvSpPr/>
          <p:nvPr/>
        </p:nvSpPr>
        <p:spPr>
          <a:xfrm>
            <a:off x="8028432" y="538581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最小模型 · 功能验证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1143000"/>
            <a:ext cx="11457432" cy="4773168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9" name="Shape 9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Text 9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2" name="Text 10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嵌入模型（Embedding）对比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维度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5371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11312" y="1307592"/>
            <a:ext cx="344728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推荐用法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471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7515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1290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273552" y="175564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1024 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714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4553712" y="175564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1.2GB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5157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5833872" y="175564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通用中英检索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290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8211312" y="1755648"/>
            <a:ext cx="34472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默认知识库嵌入 · 多语言强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qwen3-embedding:0.6b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273552" y="230428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1024 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714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4553712" y="230428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1.3GB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5157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5833872" y="230428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通用教学检索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290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8211312" y="2304288"/>
            <a:ext cx="34472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轻量快速 · 与 qwen3 系列同源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qwen3-embedding:4b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273552" y="285292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2560 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714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4553712" y="285292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8GB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5157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833872" y="285292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高精度检索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290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211312" y="2852928"/>
            <a:ext cx="34472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工业文档深度检索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qwen3-embedding:8b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40156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4096 维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714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553712" y="340156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16GB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5157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5833872" y="340156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科研级检索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290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8211312" y="3401568"/>
            <a:ext cx="34472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最高召回率 · 资源消耗大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nomic-embed-text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273552" y="395020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 维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4714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4553712" y="395020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274MB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75157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5833872" y="395020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轻量快速索引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1290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8211312" y="3950208"/>
            <a:ext cx="34472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原型/教学演示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1280160"/>
            <a:ext cx="11274552" cy="32004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维度对比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57200" y="516636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 / 0.6b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011680" y="5221224"/>
            <a:ext cx="54864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71" name="Shape 69"/>
          <p:cNvSpPr/>
          <p:nvPr/>
        </p:nvSpPr>
        <p:spPr>
          <a:xfrm>
            <a:off x="2011680" y="5221224"/>
            <a:ext cx="1371600" cy="182880"/>
          </a:xfrm>
          <a:prstGeom prst="roundRect">
            <a:avLst/>
          </a:prstGeom>
          <a:solidFill>
            <a:srgbClr val="2563EB"/>
          </a:solidFill>
        </p:spPr>
      </p:sp>
      <p:sp>
        <p:nvSpPr>
          <p:cNvPr id="72" name="Text 70"/>
          <p:cNvSpPr/>
          <p:nvPr/>
        </p:nvSpPr>
        <p:spPr>
          <a:xfrm>
            <a:off x="7589520" y="516636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1024 维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5550408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4b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011680" y="5605272"/>
            <a:ext cx="54864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75" name="Shape 73"/>
          <p:cNvSpPr/>
          <p:nvPr/>
        </p:nvSpPr>
        <p:spPr>
          <a:xfrm>
            <a:off x="2011680" y="5605272"/>
            <a:ext cx="34290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76" name="Text 74"/>
          <p:cNvSpPr/>
          <p:nvPr/>
        </p:nvSpPr>
        <p:spPr>
          <a:xfrm>
            <a:off x="7589520" y="555040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2560 维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5934456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8b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011680" y="5989320"/>
            <a:ext cx="54864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79" name="Shape 77"/>
          <p:cNvSpPr/>
          <p:nvPr/>
        </p:nvSpPr>
        <p:spPr>
          <a:xfrm>
            <a:off x="2011680" y="5989320"/>
            <a:ext cx="5486400" cy="182880"/>
          </a:xfrm>
          <a:prstGeom prst="roundRect">
            <a:avLst/>
          </a:prstGeom>
          <a:solidFill>
            <a:srgbClr val="F59E0B"/>
          </a:solidFill>
        </p:spPr>
      </p:sp>
      <p:sp>
        <p:nvSpPr>
          <p:cNvPr id="80" name="Text 78"/>
          <p:cNvSpPr/>
          <p:nvPr/>
        </p:nvSpPr>
        <p:spPr>
          <a:xfrm>
            <a:off x="7589520" y="5934456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4096 维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多模态能力评估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139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能力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16352" y="1307592"/>
            <a:ext cx="24140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支持模型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76672" y="1307592"/>
            <a:ext cx="186537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支持状态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88352" y="1307592"/>
            <a:ext cx="42702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340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294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73060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文本理解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3405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2816352" y="1755648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 26 模型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9437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5376672" y="175564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完全支持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0605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7388352" y="1755648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所有模型原生支持文本输入输出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322576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视觉/图像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3405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2816352" y="2322576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llama3.2-vision:11b · llava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9437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5376672" y="2322576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已部署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0605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7388352" y="2322576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支持图像输入 · 工业图像识别可用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889504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音频输入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3405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2816352" y="2889504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9437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376672" y="2889504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Ollama 不支持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0605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7388352" y="2889504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需外接 Whisper 等音频模型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456432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视频输入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3405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2816352" y="3456432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9437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376672" y="3456432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Ollama 不支持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0605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7388352" y="3456432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需帧抽取 + 视觉模型组合实现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023360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多语言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3405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816352" y="4023360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 · qwen3 · yi · bge-m3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9437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376672" y="4023360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完全支持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0605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388352" y="4023360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中英双语为核心场景优化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590288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3405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2816352" y="4590288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 系列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29437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376672" y="459028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支持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0605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7388352" y="4590288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function calling · Agent 调用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结论：视觉能力已具备，音视频需通过外接组件扩展。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多模型性能对比结果（6 模型 × 6 场景 = 36 测试 · 100% 通过）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438912" y="117043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16352" y="11704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平均耗时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79392" y="11704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平均 Token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42432" y="11704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最快场景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05472" y="11704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最慢场景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68512" y="1170432"/>
            <a:ext cx="30815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优势场景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340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19709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566013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12317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85862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65760" y="1554480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0" name="Text 18"/>
          <p:cNvSpPr/>
          <p:nvPr/>
        </p:nvSpPr>
        <p:spPr>
          <a:xfrm>
            <a:off x="438912" y="1572768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llama3.1:8b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3405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2816352" y="157276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18.5s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9709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4279392" y="157276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013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5742432" y="157276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7.6s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2317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8" name="Text 26"/>
          <p:cNvSpPr/>
          <p:nvPr/>
        </p:nvSpPr>
        <p:spPr>
          <a:xfrm>
            <a:off x="7205472" y="157276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 24s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8621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8668512" y="1572768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通用最快 · 英文最优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121408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2" name="Text 30"/>
          <p:cNvSpPr/>
          <p:nvPr/>
        </p:nvSpPr>
        <p:spPr>
          <a:xfrm>
            <a:off x="438912" y="2139696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3405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2816352" y="213969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20.7s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9709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4279392" y="213969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013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8" name="Text 36"/>
          <p:cNvSpPr/>
          <p:nvPr/>
        </p:nvSpPr>
        <p:spPr>
          <a:xfrm>
            <a:off x="5742432" y="213969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9.2s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2317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8"/>
          <p:cNvSpPr/>
          <p:nvPr/>
        </p:nvSpPr>
        <p:spPr>
          <a:xfrm>
            <a:off x="7205472" y="213969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13.3s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58621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8668512" y="2139696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4/6 场景最快 · 中文最优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2688336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4" name="Text 42"/>
          <p:cNvSpPr/>
          <p:nvPr/>
        </p:nvSpPr>
        <p:spPr>
          <a:xfrm>
            <a:off x="438912" y="2706624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3405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2816352" y="270662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26.6s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9709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8" name="Text 46"/>
          <p:cNvSpPr/>
          <p:nvPr/>
        </p:nvSpPr>
        <p:spPr>
          <a:xfrm>
            <a:off x="4279392" y="270662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6013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5742432" y="270662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数据库 10.8s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2317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7205472" y="270662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 31s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8621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2"/>
          <p:cNvSpPr/>
          <p:nvPr/>
        </p:nvSpPr>
        <p:spPr>
          <a:xfrm>
            <a:off x="8668512" y="2706624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编程 + 数据库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3255264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56" name="Text 54"/>
          <p:cNvSpPr/>
          <p:nvPr/>
        </p:nvSpPr>
        <p:spPr>
          <a:xfrm>
            <a:off x="438912" y="3273552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3405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8" name="Text 56"/>
          <p:cNvSpPr/>
          <p:nvPr/>
        </p:nvSpPr>
        <p:spPr>
          <a:xfrm>
            <a:off x="2816352" y="327355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31.3s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9709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0" name="Text 58"/>
          <p:cNvSpPr/>
          <p:nvPr/>
        </p:nvSpPr>
        <p:spPr>
          <a:xfrm>
            <a:off x="4279392" y="327355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66013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2" name="Text 60"/>
          <p:cNvSpPr/>
          <p:nvPr/>
        </p:nvSpPr>
        <p:spPr>
          <a:xfrm>
            <a:off x="5742432" y="327355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 24.3s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2317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4" name="Text 62"/>
          <p:cNvSpPr/>
          <p:nvPr/>
        </p:nvSpPr>
        <p:spPr>
          <a:xfrm>
            <a:off x="7205472" y="327355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39s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58621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6" name="Text 64"/>
          <p:cNvSpPr/>
          <p:nvPr/>
        </p:nvSpPr>
        <p:spPr>
          <a:xfrm>
            <a:off x="8668512" y="3273552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网络通信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3822192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8" name="Text 66"/>
          <p:cNvSpPr/>
          <p:nvPr/>
        </p:nvSpPr>
        <p:spPr>
          <a:xfrm>
            <a:off x="438912" y="3840480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3405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0" name="Text 68"/>
          <p:cNvSpPr/>
          <p:nvPr/>
        </p:nvSpPr>
        <p:spPr>
          <a:xfrm>
            <a:off x="2816352" y="384048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42.0s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9709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2" name="Text 70"/>
          <p:cNvSpPr/>
          <p:nvPr/>
        </p:nvSpPr>
        <p:spPr>
          <a:xfrm>
            <a:off x="4279392" y="384048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66013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4" name="Text 72"/>
          <p:cNvSpPr/>
          <p:nvPr/>
        </p:nvSpPr>
        <p:spPr>
          <a:xfrm>
            <a:off x="5742432" y="384048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工业基础 35s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12317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6" name="Text 74"/>
          <p:cNvSpPr/>
          <p:nvPr/>
        </p:nvSpPr>
        <p:spPr>
          <a:xfrm>
            <a:off x="7205472" y="384048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55s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58621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8" name="Text 76"/>
          <p:cNvSpPr/>
          <p:nvPr/>
        </p:nvSpPr>
        <p:spPr>
          <a:xfrm>
            <a:off x="8668512" y="3840480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深度推理 thinking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4389120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0" name="Text 78"/>
          <p:cNvSpPr/>
          <p:nvPr/>
        </p:nvSpPr>
        <p:spPr>
          <a:xfrm>
            <a:off x="438912" y="4407408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73405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2" name="Text 80"/>
          <p:cNvSpPr/>
          <p:nvPr/>
        </p:nvSpPr>
        <p:spPr>
          <a:xfrm>
            <a:off x="2816352" y="440740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67.1s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9709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4" name="Text 82"/>
          <p:cNvSpPr/>
          <p:nvPr/>
        </p:nvSpPr>
        <p:spPr>
          <a:xfrm>
            <a:off x="4279392" y="440740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66013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6" name="Text 84"/>
          <p:cNvSpPr/>
          <p:nvPr/>
        </p:nvSpPr>
        <p:spPr>
          <a:xfrm>
            <a:off x="5742432" y="440740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工业基础 55s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12317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8" name="Text 86"/>
          <p:cNvSpPr/>
          <p:nvPr/>
        </p:nvSpPr>
        <p:spPr>
          <a:xfrm>
            <a:off x="7205472" y="440740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92s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58621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0" name="Text 88"/>
          <p:cNvSpPr/>
          <p:nvPr/>
        </p:nvSpPr>
        <p:spPr>
          <a:xfrm>
            <a:off x="8668512" y="4407408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最深推理 thinking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65760" y="1143000"/>
            <a:ext cx="11457432" cy="3813048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最佳教学推荐：glm4:9b（中文）+ qwen2.5-coder:7b（编程）+ bge-m3（知识库）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4" name="Shap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5" name="Text 9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7" name="Text 9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平均响应时间对比（越短越好）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371600"/>
            <a:ext cx="0" cy="3840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5120640"/>
            <a:ext cx="7772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512064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5010912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17520" y="4049486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939758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17520" y="2978331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868603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17520" y="1907177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797449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3626902"/>
            <a:ext cx="2054134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5254534" y="3626902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18.5s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2690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llama3.1:8b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3509075"/>
            <a:ext cx="2298410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5498810" y="3509075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20.7s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509075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3193085"/>
            <a:ext cx="2953512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6153912" y="3193085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26.6s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193085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941364"/>
            <a:ext cx="3475373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6675773" y="2941364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31.3s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941364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08960" y="2368296"/>
            <a:ext cx="4663440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Text 28"/>
          <p:cNvSpPr/>
          <p:nvPr/>
        </p:nvSpPr>
        <p:spPr>
          <a:xfrm>
            <a:off x="7863840" y="2368296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42s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2368296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1023997"/>
            <a:ext cx="7450401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10650801" y="1023997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67.1s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1023997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单位：秒（响应越短越优）· 36 项测试平均值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7" name="Shap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0" name="Text 3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各场景最佳模型推荐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工业互联网基础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3716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glm4:9b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7373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12.9s · 52 tok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连接物理世界与数字世界的网络平台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898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PLC 编程教学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0" y="13716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glm4:9b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0" y="17373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9.2s · 43 tok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工业自动化逻辑控制可编程控制器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900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编程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9718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glm4:9b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3375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7.9s · 39 tok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3832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 sort_list(lst): return sorted(lst)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9900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数据库教学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0" y="29718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qwen2.5-coder:7b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0" y="33375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10.8s · 67 tok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一系列操作的原子执行单元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902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网络通信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yi:6b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49377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24.3s · 139 tok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9834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 可靠有序 · UDP 快速无连接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5902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/ 机器学习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6880" y="45720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glm4:9b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26880" y="49377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13.3s · 57 tok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49834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模型在训练数据上过度学习导致泛化下降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教学场景模型推荐矩阵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教学场景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耗时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3115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94192" y="1307592"/>
            <a:ext cx="326440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推荐理由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8488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3118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课堂即时问答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273552" y="1755648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 / llama3.1:8b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8581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5468112" y="175564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10–30s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6931152" y="175564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1189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8394192" y="1755648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响应快 · 课堂互动流畅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12848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231136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编程教学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9125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273552" y="2231136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8581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468112" y="223113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4885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6931152" y="223113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1189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8394192" y="2231136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中文最强 · 工业术语准确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688336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706624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Python/数据库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9125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273552" y="2706624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8581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5468112" y="270662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10.8s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4885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931152" y="270662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1189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394192" y="2706624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代码专用 · 准确率高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163824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182112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深度推理课程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182112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 / 32b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468112" y="3182112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60–300s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4885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931152" y="3182112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1189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8394192" y="3182112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thinking 模式 · 推理链完整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639312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657600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工业互联网安全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19125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273552" y="3657600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8581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468112" y="3657600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60–180s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4885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6931152" y="3657600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1189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8394192" y="3657600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复杂场景分析能力强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114800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133088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 制造执行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273552" y="4133088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38581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5468112" y="413308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30–90s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4885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6931152" y="413308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31189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8394192" y="4133088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通用深度教学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4590288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4608576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课后答疑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19125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3273552" y="4608576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 / glm4:9b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38581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5468112" y="460857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10–40s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84885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6931152" y="460857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31189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8394192" y="4608576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综合质量与速度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5065776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5084064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科研/论文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19125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3273552" y="5084064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qwen3:32b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38581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5468112" y="508406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120–300s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84885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6931152" y="508406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31189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8394192" y="5084064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最深层推理能力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57200" y="1280160"/>
            <a:ext cx="11274552" cy="426110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9" name="Shape 9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Text 9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2" name="Text 10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LiteLLM 统一网关架构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194560" cy="640080"/>
          </a:xfrm>
          <a:prstGeom prst="chevron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822960" y="18288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 Dify / 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828800"/>
            <a:ext cx="2194560" cy="640080"/>
          </a:xfrm>
          <a:prstGeom prst="chevron">
            <a:avLst/>
          </a:prstGeom>
          <a:solidFill>
            <a:srgbClr val="10B981"/>
          </a:solidFill>
        </p:spPr>
      </p:sp>
      <p:sp>
        <p:nvSpPr>
          <p:cNvPr id="10" name="Text 8"/>
          <p:cNvSpPr/>
          <p:nvPr/>
        </p:nvSpPr>
        <p:spPr>
          <a:xfrm>
            <a:off x="3200400" y="18288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 LiteLLM 网关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2194560" cy="640080"/>
          </a:xfrm>
          <a:prstGeom prst="chevron">
            <a:avLst/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5577840" y="18288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 Ollama 推理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63840" y="1828800"/>
            <a:ext cx="2194560" cy="640080"/>
          </a:xfrm>
          <a:prstGeom prst="chevron">
            <a:avLst/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7955280" y="18288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 26 模型池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548640" y="28346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统一 OpenAI 接口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兼容 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6758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/v1/chat/completions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9684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所有模型统一调用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70832" y="283464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283464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3" name="Text 21"/>
          <p:cNvSpPr/>
          <p:nvPr/>
        </p:nvSpPr>
        <p:spPr>
          <a:xfrm>
            <a:off x="4462272" y="28346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 模型路由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07992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 26 个模型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07992" y="36758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自动路由分发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07992" y="39684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模型按名称选择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84464" y="283464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4464" y="283464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9" name="Text 27"/>
          <p:cNvSpPr/>
          <p:nvPr/>
        </p:nvSpPr>
        <p:spPr>
          <a:xfrm>
            <a:off x="8375904" y="28346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故障转移链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21624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主模型失败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21624" y="36758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自动切换备选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21624" y="39684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保证服务可用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61772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548640" y="461772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负载均衡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51663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多副本 Ollama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545896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轮询调度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575157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提升并发能力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70832" y="461772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832" y="461772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1" name="Text 39"/>
          <p:cNvSpPr/>
          <p:nvPr/>
        </p:nvSpPr>
        <p:spPr>
          <a:xfrm>
            <a:off x="4462272" y="461772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缓存与限流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07992" y="51663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请求缓存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07992" y="545896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并发限流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07992" y="575157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保护推理节点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84464" y="461772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4464" y="461772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7" name="Text 45"/>
          <p:cNvSpPr/>
          <p:nvPr/>
        </p:nvSpPr>
        <p:spPr>
          <a:xfrm>
            <a:off x="8375904" y="461772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监控与日志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21624" y="51663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请求日志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21624" y="545896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耗时统计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21624" y="575157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可观测性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2" name="Shap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5" name="Text 5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故障转移配置（主模型 → 备选链）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77977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主模型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56432" y="1307592"/>
            <a:ext cx="40599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备选链（按顺序）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62672" y="130759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触发条件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41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580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7413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456432" y="1755648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 → glm4:9b → qwen2.5:7b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8037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7662672" y="175564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0917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9491472" y="1755648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322576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7413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456432" y="2322576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 → qwen2.5:14b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8037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7662672" y="2322576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0917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9491472" y="2322576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889504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456432" y="2889504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qwen2.5-coder:14b → glm4:9b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8037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7662672" y="2889504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40917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9491472" y="2889504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456432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llama3.1:8b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7413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456432" y="3456432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qwen2.5:7b → glm4:9b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8037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662672" y="3456432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0917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491472" y="3456432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023360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7413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456432" y="4023360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 → qwen3:32b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58037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7662672" y="4023360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40917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9491472" y="4023360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590288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37413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456432" y="4590288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qwen3-embedding:0.6b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8037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7662672" y="459028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嵌入失败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40917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9491472" y="4590288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所有主模型均配置 ≥ 2 级备选，保证单点故障不影响教学。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Ollama 推理优化配置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参数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39312" y="130759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作用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77072" y="1307592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效果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570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84947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OLLAMA_NUM_PARALLEL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570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639312" y="175564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858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5468112" y="175564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并行推理请求数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9477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8577072" y="175564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路并发推理 · 提升吞吐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30428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OLLAMA_KEEP_ALIVE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570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639312" y="230428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858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5468112" y="230428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模型常驻内存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9477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8577072" y="230428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不卸载 · 首次后零冷启动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85292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OLLAMA_MAX_LOADED_MODELS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570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639312" y="285292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858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468112" y="285292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常驻模型数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9477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8577072" y="285292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热门模型常驻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40156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OLLAMA_FLASH_ATTENTION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570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639312" y="340156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858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468112" y="340156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Flash Attention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9477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577072" y="340156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推理加速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95020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OLLAMA_NUM_CTX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570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639312" y="395020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8192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858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468112" y="395020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上下文窗口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49477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577072" y="395020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支持长上下文对话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49884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Layer Offload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5570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639312" y="449884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3858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468112" y="449884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模型全层上 GPU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9477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577072" y="449884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最大化加速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51206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内存占用（优化后）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114800" y="5212080"/>
            <a:ext cx="6858000" cy="32004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66" name="Shape 64"/>
          <p:cNvSpPr/>
          <p:nvPr/>
        </p:nvSpPr>
        <p:spPr>
          <a:xfrm>
            <a:off x="4114800" y="5212080"/>
            <a:ext cx="1234440" cy="32004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7" name="Text 65"/>
          <p:cNvSpPr/>
          <p:nvPr/>
        </p:nvSpPr>
        <p:spPr>
          <a:xfrm>
            <a:off x="4114800" y="55778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23GB / 126GB (18%) · 模型常驻内存可接受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9" name="Shape 6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0" name="Text 6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2" name="Text 7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内网访问指南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201168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LiteLLM 网关地址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http://10.167.2.176:30083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14630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Key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1828800"/>
            <a:ext cx="4389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sk-ai-platform-master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兼容接口 · /v1/chat/completions · /v1/embeddings · /v1/models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调用示例（Python）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1274552" cy="21945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1480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openai import OpenAI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client = OpenAI(base_url="http://10.167.2.176:30083/v1",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api_key="sk-ai-platform-master")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 = client.chat.completions.create(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model="glm4:9b",  # 或 qwen3:8b / 26 个模型任选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messages=[{"role":"user","content":"解释 PLC 工作原理"}])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print(resp.choices[0].message.content)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3" name="Shap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 平台功能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 应用 · 知识库 · 工作流 · Agent · 8 层代码补丁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平台功能总览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640080" y="128016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💬 智能对话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多轮对话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流式 SSE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上下文记忆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128016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4553712" y="128016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📚 知识库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19659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文档上传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9432" y="23317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向量检索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9432" y="26974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12 数据集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84464" y="128016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8467344" y="128016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🔀 工作流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13064" y="19659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可视化编排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13064" y="23317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6 个工作流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13064" y="26974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节点编排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11880"/>
            <a:ext cx="370332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640080" y="361188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🤖 Agent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42976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工具调用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6634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3 个高级 Agent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0292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自主推理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70832" y="361188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70832" y="3611880"/>
            <a:ext cx="37033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4553712" y="361188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 应用管理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99432" y="42976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CRUD 管理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99432" y="46634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58 应用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99432" y="50292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API 发布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84464" y="361188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4464" y="3611880"/>
            <a:ext cx="37033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8467344" y="361188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🗂 会话管理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13064" y="42976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历史记录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13064" y="46634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反馈标注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13064" y="50292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会话列表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Shape 4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7" name="Text 4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智能对话功能测试（Playwright 浏览器测试）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测试方式：Playwright 模拟真实浏览器操作，非 API 调用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86537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0672" y="1399032"/>
            <a:ext cx="47914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399032"/>
            <a:ext cx="36301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008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946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078992" y="180136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打开浏览器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0837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3090672" y="180136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导航至 https://10.167.2.175:31825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4613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8028432" y="180136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页面加载完成 · 显示登录页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530352" y="235000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078992" y="235000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登录系统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0837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3090672" y="235000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输入账号密码 · 点击登录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4613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8028432" y="235000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307 跳转 · 进入工作台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30352" y="289864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1078992" y="289864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进入应用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0837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3090672" y="289864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点击「探索应用」· 选择聊天应用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613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028432" y="289864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进入对话界面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344728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1078992" y="344728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输入问题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0837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3090672" y="344728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在输入框输入「解释 PLC 工作原理」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4613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8028432" y="344728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输入框显示问题文本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30352" y="399592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1078992" y="399592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获取回答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0837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3090672" y="399592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点击发送 · 等待流式响应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4613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8028432" y="399592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SSE 流式输出 · 显示回答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5"/>
          <p:cNvSpPr/>
          <p:nvPr/>
        </p:nvSpPr>
        <p:spPr>
          <a:xfrm>
            <a:off x="530352" y="454456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1078992" y="454456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验证结果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0837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3090672" y="454456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检查回答内容 · 包含 PLC 概念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4613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8028432" y="454456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回答准确 · 测试通过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7033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流式对话测试（SSE 事件流）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99032"/>
            <a:ext cx="186537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事件类型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42032" y="1399032"/>
            <a:ext cx="5888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SSE 数据示例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77072" y="1399032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9736" y="137160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494776" y="137160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57200" y="18288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530352" y="18470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59736" y="1828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6" name="Text 14"/>
          <p:cNvSpPr/>
          <p:nvPr/>
        </p:nvSpPr>
        <p:spPr>
          <a:xfrm>
            <a:off x="2542032" y="18470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{"event":"message","answer":"PLC"}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94776" y="1828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8577072" y="18470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开始输出回答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0" name="Text 18"/>
          <p:cNvSpPr/>
          <p:nvPr/>
        </p:nvSpPr>
        <p:spPr>
          <a:xfrm>
            <a:off x="530352" y="23042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59736" y="2286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2542032" y="23042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{"event":"message","answer":" 是"}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94776" y="2286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8577072" y="23042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增量 token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530352" y="27614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59736" y="2743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2542032" y="27614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{"event":"message","answer":"可编程"}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494776" y="2743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8577072" y="27614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增量 token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2" name="Text 30"/>
          <p:cNvSpPr/>
          <p:nvPr/>
        </p:nvSpPr>
        <p:spPr>
          <a:xfrm>
            <a:off x="530352" y="32186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59736" y="3200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2542032" y="32186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{"event":"message","answer":"控制器"}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94776" y="3200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8577072" y="32186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增量 token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36758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59736" y="3657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2542032" y="36758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{"...":"(持续输出)"}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494776" y="3657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577072" y="36758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持续流式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41330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message_end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59736" y="4114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2542032" y="41330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{"event":"message_end"}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494776" y="4114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8577072" y="41330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回答结束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530352" y="45902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message_replace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459736" y="4572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2542032" y="45902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{"event":"message_replace"}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494776" y="4572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577072" y="45902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内容替换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50474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459736" y="5029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2542032" y="50474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{"event":"error"} (未触发)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494776" y="5029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8577072" y="50474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无错误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验证：流式输出正常 · 逐字显示 · 无中断 · 延迟 &lt; 2s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Shape 6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5" name="Text 6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7" name="Text 6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多轮对话测试（上下文保持）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1280160"/>
            <a:ext cx="4572000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280160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什么是 PLC？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93392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是可编程逻辑控制器，用于工业自动化控制。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0" y="2706624"/>
            <a:ext cx="4572000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2706624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它有哪些主要组件？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419856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19856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主要组件包括 CPU、I/O 模块、电源和编程设备。（上下文：PLC）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0" y="4133088"/>
            <a:ext cx="4572000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133088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的作用是什么？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846320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46320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是 PLC 的核心，执行用户程序并控制 I/O。（上下文：PLC/组件）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验证：第 3 轮正确引用「PLC」上下文 · 第 6 轮正确关联「组件」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1" name="Shap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会话管理功能测试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24912" y="1307592"/>
            <a:ext cx="3877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测试操作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4827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验证结果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25712" y="1307592"/>
            <a:ext cx="253288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426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6659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9043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会话列表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4261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2724912" y="175564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/conversations 获取列表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659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6748272" y="17556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返回 10+ 会话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4341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9125712" y="175564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25856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历史消息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4261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2724912" y="225856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/messages 获取消息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659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6748272" y="22585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消息按时间排序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4341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9125712" y="225856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76148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会话重命名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4261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2724912" y="276148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修改会话名称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659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6748272" y="27614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名称更新成功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4341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9125712" y="276148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26440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删除会话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4261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2724912" y="326440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删除指定会话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659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748272" y="326440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会话从列表移除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125712" y="326440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76732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消息反馈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4261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724912" y="376732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feedback 点赞/踩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6659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6748272" y="376732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反馈记录成功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4341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9125712" y="376732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2702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消息重新生成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64261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2724912" y="427024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regenerate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659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748272" y="42702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生成新回答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04341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9125712" y="427024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77316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置顶会话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64261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2724912" y="477316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pinned=true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66597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6748272" y="47731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会话置顶显示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04341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9125712" y="477316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527608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会话搜索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64261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2724912" y="527608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按关键词搜索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66597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6748272" y="52760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返回匹配会话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04341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9125712" y="527608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4805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1" name="Shape 7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2" name="Text 8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4" name="Text 8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知识库功能测试（Playwright 浏览器测试）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测试方式：Playwright 模拟真实浏览器操作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86537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0672" y="1399032"/>
            <a:ext cx="47914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399032"/>
            <a:ext cx="36301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008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946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078992" y="180136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进入知识库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0837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3090672" y="180136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点击「知识库」菜单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4613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8028432" y="1801368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进入知识库列表页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078992" y="2368296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创建知识库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0837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3090672" y="2368296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点击「创建」· 输入名称描述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4613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8028432" y="2368296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知识库创建成功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1078992" y="2935224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上传文档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0837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3090672" y="2935224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选择 PDF/TXT 文件上传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613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028432" y="2935224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文档上传成功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1078992" y="3502152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配置索引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0837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3090672" y="3502152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选择嵌入模型 bge-m3 · 分段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4613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8028432" y="3502152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索引任务启动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1078992" y="4069080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等待索引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0837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3090672" y="4069080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监控索引进度 · 等待完成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4613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8028432" y="4069080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11/11 文档完成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5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1078992" y="463600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检索测试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0837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3090672" y="463600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输入查询 · 验证召回结果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4613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8028432" y="4636008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返回 4 个相关分段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知识库数据集列表（12 个数据集）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74552" cy="38404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261872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数据集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22192" y="1261872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02352" y="1261872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嵌入模型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79792" y="1261872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分段数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08592" y="1261872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3989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02005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39749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22629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61848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63677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编程教学手册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9896" y="16184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822192" y="163677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0056" y="16184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5102352" y="163677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97496" y="16184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7479792" y="163677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226296" y="16184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308592" y="163677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198424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00253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工业互联网协议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39896" y="19842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822192" y="200253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0056" y="19842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102352" y="200253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97496" y="19842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7479792" y="200253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26296" y="19842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308592" y="200253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35000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36829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工业安全规范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39896" y="23500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822192" y="236829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0056" y="23500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5102352" y="236829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397496" y="23500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479792" y="236829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226296" y="23500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308592" y="236829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271576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273405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编程教程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39896" y="27157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822192" y="273405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020056" y="27157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102352" y="273405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97496" y="27157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479792" y="273405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226296" y="27157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308592" y="273405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308152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09981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编程教程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739896" y="30815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822192" y="309981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020056" y="30815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102352" y="309981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97496" y="30815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7479792" y="309981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226296" y="30815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308592" y="309981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57200" y="344728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346557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软件工程基础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739896" y="34472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822192" y="346557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020056" y="34472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5102352" y="346557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97496" y="34472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7479792" y="346557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226296" y="34472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308592" y="346557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57200" y="381304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383133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工业互联网概论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739896" y="38130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3822192" y="383133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020056" y="38130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5102352" y="383133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397496" y="38130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7479792" y="383133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9226296" y="38130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9308592" y="383133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57200" y="417880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419709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传感器原理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739896" y="41788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3822192" y="419709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020056" y="41788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5102352" y="419709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397496" y="41788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7479792" y="419709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9226296" y="41788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9308592" y="419709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57200" y="454456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8" name="Text 96"/>
          <p:cNvSpPr/>
          <p:nvPr/>
        </p:nvSpPr>
        <p:spPr>
          <a:xfrm>
            <a:off x="530352" y="456285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 系统手册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739896" y="45445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0" name="Text 98"/>
          <p:cNvSpPr/>
          <p:nvPr/>
        </p:nvSpPr>
        <p:spPr>
          <a:xfrm>
            <a:off x="3822192" y="456285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020056" y="45445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2" name="Text 100"/>
          <p:cNvSpPr/>
          <p:nvPr/>
        </p:nvSpPr>
        <p:spPr>
          <a:xfrm>
            <a:off x="5102352" y="456285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7397496" y="45445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4" name="Text 102"/>
          <p:cNvSpPr/>
          <p:nvPr/>
        </p:nvSpPr>
        <p:spPr>
          <a:xfrm>
            <a:off x="7479792" y="456285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9226296" y="45445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6" name="Text 104"/>
          <p:cNvSpPr/>
          <p:nvPr/>
        </p:nvSpPr>
        <p:spPr>
          <a:xfrm>
            <a:off x="9308592" y="456285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57200" y="491032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8" name="Text 106"/>
          <p:cNvSpPr/>
          <p:nvPr/>
        </p:nvSpPr>
        <p:spPr>
          <a:xfrm>
            <a:off x="530352" y="492861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数字孪生案例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3739896" y="49103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0" name="Text 108"/>
          <p:cNvSpPr/>
          <p:nvPr/>
        </p:nvSpPr>
        <p:spPr>
          <a:xfrm>
            <a:off x="3822192" y="492861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020056" y="49103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2" name="Text 110"/>
          <p:cNvSpPr/>
          <p:nvPr/>
        </p:nvSpPr>
        <p:spPr>
          <a:xfrm>
            <a:off x="5102352" y="492861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7397496" y="49103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4" name="Text 112"/>
          <p:cNvSpPr/>
          <p:nvPr/>
        </p:nvSpPr>
        <p:spPr>
          <a:xfrm>
            <a:off x="7479792" y="492861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9226296" y="49103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6" name="Text 114"/>
          <p:cNvSpPr/>
          <p:nvPr/>
        </p:nvSpPr>
        <p:spPr>
          <a:xfrm>
            <a:off x="9308592" y="492861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57200" y="527608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8" name="Text 116"/>
          <p:cNvSpPr/>
          <p:nvPr/>
        </p:nvSpPr>
        <p:spPr>
          <a:xfrm>
            <a:off x="530352" y="529437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边缘计算白皮书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3739896" y="52760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0" name="Text 118"/>
          <p:cNvSpPr/>
          <p:nvPr/>
        </p:nvSpPr>
        <p:spPr>
          <a:xfrm>
            <a:off x="3822192" y="529437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5020056" y="52760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2" name="Text 120"/>
          <p:cNvSpPr/>
          <p:nvPr/>
        </p:nvSpPr>
        <p:spPr>
          <a:xfrm>
            <a:off x="5102352" y="529437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397496" y="52760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4" name="Text 122"/>
          <p:cNvSpPr/>
          <p:nvPr/>
        </p:nvSpPr>
        <p:spPr>
          <a:xfrm>
            <a:off x="7479792" y="529437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9226296" y="52760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6" name="Text 124"/>
          <p:cNvSpPr/>
          <p:nvPr/>
        </p:nvSpPr>
        <p:spPr>
          <a:xfrm>
            <a:off x="9308592" y="529437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457200" y="564184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28" name="Text 126"/>
          <p:cNvSpPr/>
          <p:nvPr/>
        </p:nvSpPr>
        <p:spPr>
          <a:xfrm>
            <a:off x="530352" y="566013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工业数据分析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3739896" y="56418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0" name="Text 128"/>
          <p:cNvSpPr/>
          <p:nvPr/>
        </p:nvSpPr>
        <p:spPr>
          <a:xfrm>
            <a:off x="3822192" y="566013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020056" y="56418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2" name="Text 130"/>
          <p:cNvSpPr/>
          <p:nvPr/>
        </p:nvSpPr>
        <p:spPr>
          <a:xfrm>
            <a:off x="5102352" y="566013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7397496" y="56418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4" name="Text 132"/>
          <p:cNvSpPr/>
          <p:nvPr/>
        </p:nvSpPr>
        <p:spPr>
          <a:xfrm>
            <a:off x="7479792" y="566013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9226296" y="56418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6" name="Text 134"/>
          <p:cNvSpPr/>
          <p:nvPr/>
        </p:nvSpPr>
        <p:spPr>
          <a:xfrm>
            <a:off x="9308592" y="566013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457200" y="1234440"/>
            <a:ext cx="11274552" cy="47731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39" name="Shape 1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0" name="Text 1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42" name="Text 1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文档索引过程（11/11 文档全部完成）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手册-基础.pdf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78308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11" name="Shape 9"/>
          <p:cNvSpPr/>
          <p:nvPr/>
        </p:nvSpPr>
        <p:spPr>
          <a:xfrm>
            <a:off x="594360" y="178308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594360" y="205740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0832" y="128016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手册-指令.pdf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96912" y="137160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07992" y="178308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17" name="Shape 15"/>
          <p:cNvSpPr/>
          <p:nvPr/>
        </p:nvSpPr>
        <p:spPr>
          <a:xfrm>
            <a:off x="4507992" y="178308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4507992" y="205740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84464" y="128016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手册-案例.pdf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210544" y="137160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21624" y="178308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23" name="Shape 21"/>
          <p:cNvSpPr/>
          <p:nvPr/>
        </p:nvSpPr>
        <p:spPr>
          <a:xfrm>
            <a:off x="8421624" y="178308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8421624" y="205740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0604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6974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Modbus 协议.pdf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269748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310896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29" name="Shape 27"/>
          <p:cNvSpPr/>
          <p:nvPr/>
        </p:nvSpPr>
        <p:spPr>
          <a:xfrm>
            <a:off x="594360" y="310896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0" name="Text 28"/>
          <p:cNvSpPr/>
          <p:nvPr/>
        </p:nvSpPr>
        <p:spPr>
          <a:xfrm>
            <a:off x="594360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70832" y="260604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26974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OPC UA 协议.pdf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96912" y="269748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07992" y="310896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35" name="Shape 33"/>
          <p:cNvSpPr/>
          <p:nvPr/>
        </p:nvSpPr>
        <p:spPr>
          <a:xfrm>
            <a:off x="4507992" y="310896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6" name="Text 34"/>
          <p:cNvSpPr/>
          <p:nvPr/>
        </p:nvSpPr>
        <p:spPr>
          <a:xfrm>
            <a:off x="4507992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84464" y="260604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21624" y="26974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工业安全规范.pdf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210544" y="269748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421624" y="310896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41" name="Shape 39"/>
          <p:cNvSpPr/>
          <p:nvPr/>
        </p:nvSpPr>
        <p:spPr>
          <a:xfrm>
            <a:off x="8421624" y="310896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8421624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93192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0233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教程.pdf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83280" y="402336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443484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47" name="Shape 45"/>
          <p:cNvSpPr/>
          <p:nvPr/>
        </p:nvSpPr>
        <p:spPr>
          <a:xfrm>
            <a:off x="594360" y="443484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8" name="Text 46"/>
          <p:cNvSpPr/>
          <p:nvPr/>
        </p:nvSpPr>
        <p:spPr>
          <a:xfrm>
            <a:off x="594360" y="47091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70832" y="393192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07992" y="40233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实战.pdf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96912" y="402336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507992" y="443484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53" name="Shape 51"/>
          <p:cNvSpPr/>
          <p:nvPr/>
        </p:nvSpPr>
        <p:spPr>
          <a:xfrm>
            <a:off x="4507992" y="443484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54" name="Text 52"/>
          <p:cNvSpPr/>
          <p:nvPr/>
        </p:nvSpPr>
        <p:spPr>
          <a:xfrm>
            <a:off x="4507992" y="47091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84464" y="393192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21624" y="40233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核心.pdf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210544" y="402336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8421624" y="443484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59" name="Shape 57"/>
          <p:cNvSpPr/>
          <p:nvPr/>
        </p:nvSpPr>
        <p:spPr>
          <a:xfrm>
            <a:off x="8421624" y="443484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0" name="Text 58"/>
          <p:cNvSpPr/>
          <p:nvPr/>
        </p:nvSpPr>
        <p:spPr>
          <a:xfrm>
            <a:off x="8421624" y="47091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525780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53492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软件工程.pdf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383280" y="53492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94360" y="576072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65" name="Shape 63"/>
          <p:cNvSpPr/>
          <p:nvPr/>
        </p:nvSpPr>
        <p:spPr>
          <a:xfrm>
            <a:off x="594360" y="576072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594360" y="603504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370832" y="525780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07992" y="53492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工业互联网概论.pdf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296912" y="53492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507992" y="576072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71" name="Shape 69"/>
          <p:cNvSpPr/>
          <p:nvPr/>
        </p:nvSpPr>
        <p:spPr>
          <a:xfrm>
            <a:off x="4507992" y="576072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72" name="Text 70"/>
          <p:cNvSpPr/>
          <p:nvPr/>
        </p:nvSpPr>
        <p:spPr>
          <a:xfrm>
            <a:off x="4507992" y="603504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全部 11 个文档索引完成 · 0 失败 · 总分段 631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5" name="Shape 7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6" name="Text 7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8" name="Text 7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知识库检索测试结果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查询示例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8795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嵌入模型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6539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召回分段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4555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相关度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08592" y="1307592"/>
            <a:ext cx="235000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056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64830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763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226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的工作原理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0565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4187952" y="1755648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qwen3-embedding-8b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8309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6565392" y="1755648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6325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7845552" y="175564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22629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308592" y="1755648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212848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231136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指令有哪些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0565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4187952" y="2231136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qwen3-embedding-4b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8309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6565392" y="2231136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6325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7845552" y="223113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22629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308592" y="2231136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688336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706624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Modbus 协议格式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0565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4187952" y="2706624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8309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6565392" y="2706624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6325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845552" y="270662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22629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308592" y="2706624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163824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182112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工业安全要求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10565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4187952" y="3182112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8309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6565392" y="3182112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6325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845552" y="3182112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22629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308592" y="3182112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3639312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657600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排序算法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0565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4187952" y="3657600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qwen3-embedding-8b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8309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6565392" y="3657600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76325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7845552" y="3657600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0.94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22629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308592" y="3657600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4114800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133088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面向对象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10565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4187952" y="4133088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qwen3-embedding-4b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8309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6565392" y="4133088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76325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7845552" y="413308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0.87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22629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308592" y="4133088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7200" y="4590288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4608576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软件开发生命周期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0565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4187952" y="4608576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48309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6565392" y="4608576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76325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7845552" y="460857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0.89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22629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9308592" y="4608576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57200" y="5065776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5084064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工业互联网定义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0565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4187952" y="5084064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qwen3-embedding-8b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48309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6565392" y="5084064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76325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7845552" y="508406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0.93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22629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9308592" y="5084064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57200" y="1280160"/>
            <a:ext cx="11274552" cy="426110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项检索测试全部命中 · 平均相关度 0.90 · 最高召回 4 分段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0" name="Shape 9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1" name="Text 9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3" name="Text 10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工作流测试（文本情感分析 · Playwright）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测试方式：Playwright 模拟真实浏览器操作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86537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0672" y="1399032"/>
            <a:ext cx="47914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399032"/>
            <a:ext cx="36301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008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946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078992" y="180136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进入工作流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0837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3090672" y="180136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点击「工作流」应用 · 打开编排页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4613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8028432" y="1801368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显示可视化编排画布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078992" y="2368296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查看节点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0837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3090672" y="2368296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检查开始→LLM→结束 节点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4613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8028432" y="2368296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节点配置正确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1078992" y="2935224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输入测试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0837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3090672" y="2935224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在开始节点输入「这个产品很好」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613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028432" y="2935224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输入文本加载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1078992" y="3502152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执行工作流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0837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3090672" y="3502152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点击「运行」按钮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4613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8028432" y="3502152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工作流开始执行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1078992" y="4069080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查看结果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0837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3090672" y="4069080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等待 LLM 节点完成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4613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8028432" y="4069080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输出「情感：正面」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5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1078992" y="463600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验证结果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0837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3090672" y="463600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检查输出符合预期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4613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8028432" y="4636008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情感分析正确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工作流应用列表（6 个工作流）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685800" y="13898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文本情感分析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流程：输入文本 → LLM 分析 → 输出情感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2801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6446520" y="13898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内容摘要生成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流程：长文本 → LLM 摘要 → 短摘要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46520" y="21488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模型：qwen3:8b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685800" y="29900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代码审查流程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3832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流程：代码 → LLM 审查 → 改进建议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37490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模型：qwen2.5-coder:7b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8803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6446520" y="29900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多语言翻译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33832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流程：源文本 → LLM 翻译 → 目标语言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37490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4805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9" name="Text 27"/>
          <p:cNvSpPr/>
          <p:nvPr/>
        </p:nvSpPr>
        <p:spPr>
          <a:xfrm>
            <a:off x="685800" y="45902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知识问答 RAG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9834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流程：查询 → 知识库检索 → LLM 生成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53492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模型：glm4:9b + bge-m3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4805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6446520" y="45902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报告自动生成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46520" y="49834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流程：数据 → LLM 生成 → 结构化报告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46520" y="53492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模型：qwen3:14b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Agent 测试（高级聊天应用验证）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4140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应用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067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类型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8523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可用工具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62672" y="130759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08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2029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580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预测性维护 Agent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083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090672" y="17556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0293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5285232" y="17556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计算器/搜索/知识库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803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7662672" y="175564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工具调用正确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4091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491472" y="175564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25856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生产优化 Agent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083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090672" y="225856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0293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285232" y="22585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计算器/搜索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03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7662672" y="225856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 + 调用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4091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491472" y="225856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76148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安全合规 Agent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0083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090672" y="276148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0293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5285232" y="27614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知识库/搜索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803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662672" y="276148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合规判断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091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491472" y="276148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26440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课前预习 Agent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083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090672" y="326440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20293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285232" y="326440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803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662672" y="326440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知识点检索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4091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491472" y="326440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76732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课中互动 Agent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0083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090672" y="376732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20293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285232" y="376732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计算器/知识库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5803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7662672" y="376732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实时答疑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4091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491472" y="376732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27024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课后评估 Agent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0083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090672" y="42702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20293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5285232" y="42702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计算器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5803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7662672" y="427024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评分准确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4091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491472" y="427024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280160"/>
            <a:ext cx="11274552" cy="34747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全部 Agent 工具调用正常 · ReAct 推理链完整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0" name="Shape 7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1" name="Text 7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3" name="Text 8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文件上传功能测试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文件类型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167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11312" y="130759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40112" y="1307592"/>
            <a:ext cx="161848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9344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1290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957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图片上传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2549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2907792" y="175564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PNG / JPG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3445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6016752" y="17556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2901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8211312" y="175564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5781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10040112" y="175564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2585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文档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2549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2907792" y="225856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3445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6016752" y="225856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2901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8211312" y="225856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95781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10040112" y="225856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7614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文本文档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2549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2907792" y="276148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TXT / MD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3445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6016752" y="276148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2901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8211312" y="276148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95781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10040112" y="276148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26440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大文件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82549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907792" y="326440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3445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6016752" y="326440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10MB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2901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211312" y="326440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95781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10040112" y="326440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76732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多文件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82549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2907792" y="376732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个文件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93445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6016752" y="376732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5MB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12901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8211312" y="376732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批量上传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95781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10040112" y="376732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2702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异常文件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82549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2907792" y="427024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93445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6016752" y="42702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1MB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2901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8211312" y="427024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拒绝上传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95781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10040112" y="427024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拦截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280160"/>
            <a:ext cx="11274552" cy="34747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9" name="Shape 7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2" name="Text 8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应用 CRUD 测试（创建 + 删除）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139903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07792" y="1399032"/>
            <a:ext cx="38770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31152" y="1399032"/>
            <a:ext cx="28712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验证结果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48672" y="1399032"/>
            <a:ext cx="17099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28254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84885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866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1078992" y="180136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创建应用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254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2907792" y="1801368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/apps 创建「测试应用」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6931152" y="1801368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返回 app_id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6637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948672" y="1801368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创建成功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1078992" y="2368296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查询应用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254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2907792" y="2368296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/apps 验证列表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4885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6931152" y="2368296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列表包含新应用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86637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948672" y="2368296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查询成功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1078992" y="2935224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更新应用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254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2907792" y="2935224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修改名称描述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4885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931152" y="2935224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应用信息更新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6637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948672" y="2935224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更新成功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1078992" y="3502152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发布应用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8254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2907792" y="3502152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发布到 API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4885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931152" y="3502152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 API Key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86637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948672" y="3502152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发布成功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1078992" y="4069080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调用应用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8254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2907792" y="4069080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/chat 发送消息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4885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6931152" y="4069080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应用正常响应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86637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948672" y="4069080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调用成功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1078992" y="463600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删除应用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8254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2907792" y="4636008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删除应用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4885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6931152" y="4636008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应用从列表移除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86637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948672" y="4636008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删除成功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9" name="Shape 7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2" name="Text 8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应用市场生态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类别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307592"/>
            <a:ext cx="3877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代表性内容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59952" y="1307592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654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86776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插件 (Plugins)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9125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273552" y="175564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429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4736592" y="1755648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Ollama/Tongyi/OpenAI 兼容等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7765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8759952" y="1755648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已安装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322576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模板 (Templates)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9125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273552" y="232257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20+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5429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4736592" y="2322576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聊天/工作流/Agent 模板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7765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8759952" y="2322576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889504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服务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9125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288950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5429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4736592" y="2889504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文件系统/搜索/数据库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7765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8759952" y="2889504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456432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模型供应商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9125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345643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15+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5429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4736592" y="3456432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Ollama/OpenAI/Azure 等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67765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759952" y="3456432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已接入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023360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 (Tools)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9125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402336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30+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5429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736592" y="4023360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搜索/计算器/天气等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67765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759952" y="4023360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可调用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590288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数据集模板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19125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459028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10+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5429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4736592" y="4590288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预设知识库结构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67765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759952" y="4590288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可参考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521208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4360" y="5303520"/>
            <a:ext cx="32004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457200" y="5394960"/>
            <a:ext cx="3474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71</a:t>
            </a:r>
            <a:endParaRPr lang="en-US" sz="3000" dirty="0"/>
          </a:p>
        </p:txBody>
      </p:sp>
      <p:sp>
        <p:nvSpPr>
          <p:cNvPr id="67" name="Text 65"/>
          <p:cNvSpPr/>
          <p:nvPr/>
        </p:nvSpPr>
        <p:spPr>
          <a:xfrm>
            <a:off x="457200" y="5835701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已安装插件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352544" y="521208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89704" y="5303520"/>
            <a:ext cx="32004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0" name="Text 68"/>
          <p:cNvSpPr/>
          <p:nvPr/>
        </p:nvSpPr>
        <p:spPr>
          <a:xfrm>
            <a:off x="4352544" y="5394960"/>
            <a:ext cx="3474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20+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4352544" y="5835701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应用模板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247888" y="5212080"/>
            <a:ext cx="3483864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85048" y="5303520"/>
            <a:ext cx="3209544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4" name="Text 72"/>
          <p:cNvSpPr/>
          <p:nvPr/>
        </p:nvSpPr>
        <p:spPr>
          <a:xfrm>
            <a:off x="8247888" y="5394960"/>
            <a:ext cx="34838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3000" dirty="0"/>
          </a:p>
        </p:txBody>
      </p:sp>
      <p:sp>
        <p:nvSpPr>
          <p:cNvPr id="75" name="Text 73"/>
          <p:cNvSpPr/>
          <p:nvPr/>
        </p:nvSpPr>
        <p:spPr>
          <a:xfrm>
            <a:off x="8247888" y="5835701"/>
            <a:ext cx="3483864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服务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7" name="Shape 7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0" name="Text 7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插件生态详情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Ollama 插件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本地模型接入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模型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2424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1280160"/>
            <a:ext cx="2743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3483864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Tongyi 插件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9584" y="18288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通义千问接入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9584" y="2286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云模型可选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9584" y="269748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27648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280160"/>
            <a:ext cx="2743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6419088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OpenAI 兼容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64808" y="18288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 网关接入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64808" y="2286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统一接口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64808" y="269748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262872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1280160"/>
            <a:ext cx="27432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9354312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Azure OpenAI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00032" y="18288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微软云模型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00032" y="2286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备选云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00032" y="269748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474720"/>
            <a:ext cx="27432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548640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系列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" y="44805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备选云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48920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92424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92424" y="3474720"/>
            <a:ext cx="27432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9" name="Text 37"/>
          <p:cNvSpPr/>
          <p:nvPr/>
        </p:nvSpPr>
        <p:spPr>
          <a:xfrm>
            <a:off x="3483864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搜索工具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29584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Tavily/SerpiAPI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529584" y="44805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联网搜索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29584" y="48920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27648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3474720"/>
            <a:ext cx="2743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5" name="Text 43"/>
          <p:cNvSpPr/>
          <p:nvPr/>
        </p:nvSpPr>
        <p:spPr>
          <a:xfrm>
            <a:off x="6419088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计算器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64808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数学计算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64808" y="44805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工具调用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64808" y="48920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262872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62872" y="3474720"/>
            <a:ext cx="27432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1" name="Text 49"/>
          <p:cNvSpPr/>
          <p:nvPr/>
        </p:nvSpPr>
        <p:spPr>
          <a:xfrm>
            <a:off x="9354312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文件系统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400032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文件读写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400032" y="44805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本地文件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00032" y="48920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Shap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9" name="Text 5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 层代码补丁详情（model_schema null 修复）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438912" y="11704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17043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96512" y="1170432"/>
            <a:ext cx="35112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54112" y="1170432"/>
            <a:ext cx="39959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52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0142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76718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65760" y="1554480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6" name="Text 14"/>
          <p:cNvSpPr/>
          <p:nvPr/>
        </p:nvSpPr>
        <p:spPr>
          <a:xfrm>
            <a:off x="438912" y="157276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525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/>
        </p:nvSpPr>
        <p:spPr>
          <a:xfrm>
            <a:off x="987552" y="1572768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models/model.py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1421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4096512" y="1572768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model_schema 字段 null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7181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7754112" y="1572768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添加默认空对象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121408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4" name="Text 22"/>
          <p:cNvSpPr/>
          <p:nvPr/>
        </p:nvSpPr>
        <p:spPr>
          <a:xfrm>
            <a:off x="438912" y="213969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525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987552" y="2139696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services/model_service.py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1421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8" name="Text 26"/>
          <p:cNvSpPr/>
          <p:nvPr/>
        </p:nvSpPr>
        <p:spPr>
          <a:xfrm>
            <a:off x="4096512" y="2139696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解析异常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7181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7754112" y="2139696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增加空值保护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688336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2" name="Text 30"/>
          <p:cNvSpPr/>
          <p:nvPr/>
        </p:nvSpPr>
        <p:spPr>
          <a:xfrm>
            <a:off x="438912" y="270662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525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987552" y="2706624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api/model_providers.py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1421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4096512" y="2706624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返回 500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7181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8" name="Text 36"/>
          <p:cNvSpPr/>
          <p:nvPr/>
        </p:nvSpPr>
        <p:spPr>
          <a:xfrm>
            <a:off x="7754112" y="2706624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异常捕获处理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255264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0" name="Text 38"/>
          <p:cNvSpPr/>
          <p:nvPr/>
        </p:nvSpPr>
        <p:spPr>
          <a:xfrm>
            <a:off x="438912" y="3273552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0525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987552" y="3273552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model_providers/provider.py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1421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4" name="Text 42"/>
          <p:cNvSpPr/>
          <p:nvPr/>
        </p:nvSpPr>
        <p:spPr>
          <a:xfrm>
            <a:off x="4096512" y="3273552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provider 初始化失败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7181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7754112" y="3273552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延迟加载 schema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3822192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8" name="Text 46"/>
          <p:cNvSpPr/>
          <p:nvPr/>
        </p:nvSpPr>
        <p:spPr>
          <a:xfrm>
            <a:off x="438912" y="3840480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525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987552" y="3840480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model_providers/ollama.py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01421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4096512" y="3840480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schema 缺失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181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2"/>
          <p:cNvSpPr/>
          <p:nvPr/>
        </p:nvSpPr>
        <p:spPr>
          <a:xfrm>
            <a:off x="7754112" y="3840480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生成默认 schema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389120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56" name="Text 54"/>
          <p:cNvSpPr/>
          <p:nvPr/>
        </p:nvSpPr>
        <p:spPr>
          <a:xfrm>
            <a:off x="438912" y="440740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0525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8" name="Text 56"/>
          <p:cNvSpPr/>
          <p:nvPr/>
        </p:nvSpPr>
        <p:spPr>
          <a:xfrm>
            <a:off x="987552" y="4407408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configs/model_config.py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01421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0" name="Text 58"/>
          <p:cNvSpPr/>
          <p:nvPr/>
        </p:nvSpPr>
        <p:spPr>
          <a:xfrm>
            <a:off x="4096512" y="4407408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配置加载报错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67181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2" name="Text 60"/>
          <p:cNvSpPr/>
          <p:nvPr/>
        </p:nvSpPr>
        <p:spPr>
          <a:xfrm>
            <a:off x="7754112" y="4407408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提供默认配置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956048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4" name="Text 62"/>
          <p:cNvSpPr/>
          <p:nvPr/>
        </p:nvSpPr>
        <p:spPr>
          <a:xfrm>
            <a:off x="438912" y="497433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05256" y="4956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6" name="Text 64"/>
          <p:cNvSpPr/>
          <p:nvPr/>
        </p:nvSpPr>
        <p:spPr>
          <a:xfrm>
            <a:off x="987552" y="4974336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tasks/model_task.py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014216" y="4956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8" name="Text 66"/>
          <p:cNvSpPr/>
          <p:nvPr/>
        </p:nvSpPr>
        <p:spPr>
          <a:xfrm>
            <a:off x="4096512" y="4974336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后台任务崩溃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671816" y="4956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0" name="Text 68"/>
          <p:cNvSpPr/>
          <p:nvPr/>
        </p:nvSpPr>
        <p:spPr>
          <a:xfrm>
            <a:off x="7754112" y="4974336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校验前置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5522976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72" name="Text 70"/>
          <p:cNvSpPr/>
          <p:nvPr/>
        </p:nvSpPr>
        <p:spPr>
          <a:xfrm>
            <a:off x="438912" y="554126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05256" y="5522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4" name="Text 72"/>
          <p:cNvSpPr/>
          <p:nvPr/>
        </p:nvSpPr>
        <p:spPr>
          <a:xfrm>
            <a:off x="987552" y="5541264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Dockerfile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014216" y="5522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6" name="Text 74"/>
          <p:cNvSpPr/>
          <p:nvPr/>
        </p:nvSpPr>
        <p:spPr>
          <a:xfrm>
            <a:off x="4096512" y="5541264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镜像未含补丁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671816" y="5522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8" name="Text 76"/>
          <p:cNvSpPr/>
          <p:nvPr/>
        </p:nvSpPr>
        <p:spPr>
          <a:xfrm>
            <a:off x="7754112" y="5541264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构建 patched 镜像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1143000"/>
            <a:ext cx="11457432" cy="4946904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1" name="Shape 7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2" name="Text 8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4" name="Text 8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补丁 Docker 镜像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14630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镜像地址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10.100.135.132:5000/dify-api:1.14.2-patched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版本：Dify 1.14.2 · 标签：patched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530352" y="304495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304495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56432" y="3044952"/>
            <a:ext cx="82021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命令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966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3741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34472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9669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1078992" y="34472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拉取官方镜像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7413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3456432" y="34472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pull langgenius/dify-api:1.14.2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39044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669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1078992" y="39044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 8 层补丁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7413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3456432" y="39044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覆盖 8 个文件 · 修复 model_schema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530352" y="43616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9669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1078992" y="43616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重新构建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456432" y="43616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build -t dify-api:1.14.2-patched 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6" name="Text 34"/>
          <p:cNvSpPr/>
          <p:nvPr/>
        </p:nvSpPr>
        <p:spPr>
          <a:xfrm>
            <a:off x="530352" y="48188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9669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1078992" y="48188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推送到仓库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7413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456432" y="48188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push 10.100.135.132:5000/dify-api:1.14.2-patched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530352" y="52760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9669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1078992" y="52760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更新部署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7413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456432" y="52760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kubectl set image deployment/dify-api ...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57332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9669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1078992" y="57332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验证运行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7413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3456432" y="57332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kubectl rollout status · 全部 Pod Ready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3017520"/>
            <a:ext cx="11274552" cy="3154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5" name="Shape 5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8" name="Text 5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版本升级评估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914400"/>
          </a:xfrm>
          <a:prstGeom prst="roundRect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⚠ 当前不建议升级 · 维持 1.14.2-patched 版本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Text 8"/>
          <p:cNvSpPr/>
          <p:nvPr/>
        </p:nvSpPr>
        <p:spPr>
          <a:xfrm>
            <a:off x="530352" y="249631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评估维度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3552" y="249631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02352" y="2496312"/>
            <a:ext cx="65562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1256" y="246888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020056" y="246888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292608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294436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补丁兼容性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91256" y="29260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273552" y="294436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不建议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0056" y="29260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5102352" y="294436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层补丁需重新适配新版本 · 风险高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2" name="Text 20"/>
          <p:cNvSpPr/>
          <p:nvPr/>
        </p:nvSpPr>
        <p:spPr>
          <a:xfrm>
            <a:off x="530352" y="344728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数据迁移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9125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3273552" y="344728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需评估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005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5102352" y="344728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新版本可能含 DB schema 变更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530352" y="395020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插件兼容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273552" y="395020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需验证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005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102352" y="395020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 插件需逐一验证兼容性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4" name="Text 32"/>
          <p:cNvSpPr/>
          <p:nvPr/>
        </p:nvSpPr>
        <p:spPr>
          <a:xfrm>
            <a:off x="530352" y="445312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功能收益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9125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3273552" y="445312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有限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005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5102352" y="445312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新版本主要修复 · 无关键新功能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530352" y="495604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稳定性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9125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495604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当前稳定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005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102352" y="495604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测试通过 · 运行良好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6" name="Text 44"/>
          <p:cNvSpPr/>
          <p:nvPr/>
        </p:nvSpPr>
        <p:spPr>
          <a:xfrm>
            <a:off x="530352" y="545896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升级窗口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91256" y="54406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3273552" y="545896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假期可行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0056" y="54406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5102352" y="545896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需停服窗口 · 建议寒暑假进行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2468880"/>
            <a:ext cx="11274552" cy="34747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3" name="Shap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6" name="Text 5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工业互联网教学应用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 个教学应用 · PLC · 传感器 · MES · 数字孪生 · 边缘计算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全部 58 个教学应用总览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💬 智能对话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通用问答/课程答疑/知识点讲解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92424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1280160"/>
            <a:ext cx="27432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2"/>
          <p:cNvSpPr/>
          <p:nvPr/>
        </p:nvSpPr>
        <p:spPr>
          <a:xfrm>
            <a:off x="3483864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🔀 工作流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2424" y="17830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529584" y="2331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情感分析/摘要/翻译/审查/报告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27648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280160"/>
            <a:ext cx="27432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6419088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🤖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17830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64808" y="2331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游戏化/虚拟课堂/生产优化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62872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1280160"/>
            <a:ext cx="2743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9354312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其他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62872" y="17830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400032" y="2331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数据采集/健康评估等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8" name="Text 26"/>
          <p:cNvSpPr/>
          <p:nvPr/>
        </p:nvSpPr>
        <p:spPr>
          <a:xfrm>
            <a:off x="530352" y="304495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应用类别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39312" y="3044952"/>
            <a:ext cx="11338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3044952"/>
            <a:ext cx="35112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代表应用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77072" y="3044952"/>
            <a:ext cx="30815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570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4947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57200" y="3429000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530352" y="3447288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 IoT 对话助手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5701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3639312" y="3447288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3717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4919472" y="3447288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PLC助手/传感器助手/协议助手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9477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577072" y="3447288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67912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886200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 IoT 工作流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55701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639312" y="3886200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919472" y="3886200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故障诊断/质量评估/代码分析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49477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8577072" y="3886200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4306824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530352" y="4325112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 IoT Agent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55701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3639312" y="432511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3717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4919472" y="4325112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预测维护/生产优化/安全合规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49477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8577072" y="4325112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745736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0" name="Text 58"/>
          <p:cNvSpPr/>
          <p:nvPr/>
        </p:nvSpPr>
        <p:spPr>
          <a:xfrm>
            <a:off x="530352" y="4764024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游戏化学习 Agent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55701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3639312" y="4764024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3717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4919472" y="4764024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课前预习/课中互动/课后评估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49477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8577072" y="4764024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5184648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530352" y="5202936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虚拟课堂 Agent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55701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639312" y="5202936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3717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4919472" y="5202936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虚拟教师/初级导师/高级导师/评估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49477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8577072" y="5202936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" y="5623560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6" name="Text 74"/>
          <p:cNvSpPr/>
          <p:nvPr/>
        </p:nvSpPr>
        <p:spPr>
          <a:xfrm>
            <a:off x="530352" y="5641848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通用教学对话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55701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3639312" y="5641848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3717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4919472" y="5641848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各课程知识点答疑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49477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577072" y="5641848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 / qwen3:8b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6062472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4" name="Text 82"/>
          <p:cNvSpPr/>
          <p:nvPr/>
        </p:nvSpPr>
        <p:spPr>
          <a:xfrm>
            <a:off x="530352" y="6080760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其他应用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55701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3639312" y="6080760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4919472" y="6080760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数据采集/健康评估等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849477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8577072" y="6080760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按需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57200" y="3017520"/>
            <a:ext cx="11274552" cy="348386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合计 58 个应用 · 全部已部署并完成测试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4" name="Shap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5" name="Text 9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7" name="Text 9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工业 IoT 对话助手（10 个应用）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应用名称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功能描述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45552" y="1307592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948672" y="1307592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763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9866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编程助手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91256" y="17373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273552" y="1755648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解答 PLC 梯形图/指令/编程问题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63256" y="17373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7845552" y="1755648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866376" y="17373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9948672" y="1755648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176272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194560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传感器选型助手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91256" y="21762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273552" y="2194560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传感器类型/原理/选型指导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63256" y="21762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7845552" y="2194560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66376" y="21762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9948672" y="2194560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615184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63347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工业协议助手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261518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2633472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Modbus/OPC UA/Profinet 解答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63256" y="261518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7845552" y="2633472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866376" y="261518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9948672" y="2633472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054096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072384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工业网络助手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05409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3072384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工业以太网/总线/组态解答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63256" y="305409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845552" y="3072384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66376" y="305409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948672" y="3072384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493008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511296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边缘计算助手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49300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511296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边缘架构/部署/优化指导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63256" y="349300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7845552" y="3511296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866376" y="349300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9948672" y="3511296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3931920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3950208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数字孪生助手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393192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3950208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建模/仿真/虚实交互解答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763256" y="393192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7845552" y="3950208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866376" y="393192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9948672" y="3950208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370832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389120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 咨询助手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37083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273552" y="4389120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制造执行系统/生产管理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763256" y="437083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7845552" y="4389120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866376" y="437083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9948672" y="4389120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809744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482803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工业安全助手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91256" y="480974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3273552" y="4828032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安全规范/风险评估指导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763256" y="480974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7845552" y="4828032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866376" y="480974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9948672" y="4828032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5248656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530352" y="5266944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数据分析助手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524865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3273552" y="5266944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工业数据处理/可视化指导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763256" y="524865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7845552" y="5266944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866376" y="524865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9948672" y="5266944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5687568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5705856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自动化设备助手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191256" y="568756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3273552" y="5705856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执行器/控制器/选型指导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763256" y="568756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7845552" y="5705856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9866376" y="568756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9948672" y="5705856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57200" y="1280160"/>
            <a:ext cx="11274552" cy="48463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7" name="Shap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8" name="Text 9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0" name="Text 9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工业 IoT 工作流应用（5 个）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09728" cy="8229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685800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故障诊断工作流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37160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故障描述 → 知识检索 → LLM 分析 → 诊断建议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模型：qwen3:8b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0" y="14630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109728" cy="8229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685800" y="23317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质量评估工作流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工艺参数 → LLM 评估 → 合格判定 → 报告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0" y="24231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00400"/>
            <a:ext cx="109728" cy="8229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685800" y="32918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代码分析工作流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29184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 → LLM 审查 → 问题定位 → 改进建议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66160" y="361188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模型：qwen2.5-coder:7b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15600" y="338328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60520"/>
            <a:ext cx="109728" cy="8229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685800" y="42519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数据采集工作流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66160" y="425196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数据源 → 解析清洗 → LLM 解读 → 摘要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515600" y="434340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" y="512064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120640"/>
            <a:ext cx="109728" cy="8229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685800" y="52120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健康评估工作流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521208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运行数据 → 指标计算 → LLM 评估 → 状态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66160" y="553212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模型：qwen3:8b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515600" y="53035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工业 IoT Agent 应用（3 个）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预测性维护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3375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基于历史数据预测设备故障 · 调用计算器/知识库工具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推理 · 工具调用正常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70832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/>
        </p:nvSpPr>
        <p:spPr>
          <a:xfrm>
            <a:off x="4462272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生产优化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196596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2286000"/>
            <a:ext cx="33375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分析生产流程 · 给出优化建议 · 调用搜索工具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53712" y="36118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88620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3712" y="452628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推理 · 工具调用正常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53712" y="489204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84464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8375904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安全合规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67344" y="196596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67344" y="2286000"/>
            <a:ext cx="33375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检查操作合规性 · 调用知识库工具 · 判断风险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67344" y="36118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67344" y="388620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67344" y="452628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推理 · 工具调用正常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67344" y="489204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5" name="Shape 3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8" name="Text 3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游戏化学习 Agent（3 个应用）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课前预习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12848"/>
            <a:ext cx="228600" cy="2286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1051560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导入新课知识点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990088"/>
            <a:ext cx="228600" cy="2286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1051560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设置预习任务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767328"/>
            <a:ext cx="228600" cy="2286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1051560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互动问答导入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已部署测试通过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9" name="Text 17"/>
          <p:cNvSpPr/>
          <p:nvPr/>
        </p:nvSpPr>
        <p:spPr>
          <a:xfrm>
            <a:off x="4462272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课中互动 Agent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45152" y="2212848"/>
            <a:ext cx="228600" cy="2286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4965192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课堂实时问答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45152" y="2990088"/>
            <a:ext cx="228600" cy="2286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4965192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随堂小测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5152" y="3767328"/>
            <a:ext cx="228600" cy="2286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4965192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知识点强化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53712" y="493776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已部署测试通过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84464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9" name="Text 27"/>
          <p:cNvSpPr/>
          <p:nvPr/>
        </p:nvSpPr>
        <p:spPr>
          <a:xfrm>
            <a:off x="8375904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课后评估 Agent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58784" y="2212848"/>
            <a:ext cx="228600" cy="2286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1" name="Text 29"/>
          <p:cNvSpPr/>
          <p:nvPr/>
        </p:nvSpPr>
        <p:spPr>
          <a:xfrm>
            <a:off x="8878824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知识点检测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58784" y="2990088"/>
            <a:ext cx="228600" cy="2286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8878824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错题分析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58784" y="3767328"/>
            <a:ext cx="228600" cy="2286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5" name="Text 33"/>
          <p:cNvSpPr/>
          <p:nvPr/>
        </p:nvSpPr>
        <p:spPr>
          <a:xfrm>
            <a:off x="8878824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学习建议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67344" y="493776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已部署测试通过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虚拟课堂 Agent（4 个应用）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74320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虚拟教师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职责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3774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全流程授课 · 知识点讲解 · 互动答疑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92424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2424" y="1280160"/>
            <a:ext cx="274320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3483864" y="128016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初级导师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75304" y="19659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职责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75304" y="2286000"/>
            <a:ext cx="23774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面向初学者 · 基础概念 · 循序渐进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75304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75304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75304" y="4754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27648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1280160"/>
            <a:ext cx="274320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Text 23"/>
          <p:cNvSpPr/>
          <p:nvPr/>
        </p:nvSpPr>
        <p:spPr>
          <a:xfrm>
            <a:off x="6419088" y="128016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高级导师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0528" y="19659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职责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0528" y="2286000"/>
            <a:ext cx="23774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面向进阶 · 深度内容 · 项目实战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10528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10528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10528" y="4754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62872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62872" y="1280160"/>
            <a:ext cx="274320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9354312" y="128016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评估导师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445752" y="19659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职责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45752" y="2286000"/>
            <a:ext cx="23774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学习评估 · 能力诊断 · 个性化建议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445752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45752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45752" y="4754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Shap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3" name="Text 4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教学场景：PLC 编程教学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面向工业自动化专业 · PLC 梯形图/指令教学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覆盖西门子/三菱主流 PLC 体系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结合工业互联网实训设备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学生提问 PLC 工作原理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助手调用 PLC 知识库检索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生成详细解答与示例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提供梯形图逻辑辅助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9.2s 平均响应 · 43 token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PLC 术语准确率 100%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知识库检索命中 4 分段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10 轮上下文保持正确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教学场景：工业互联网基础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面向工业互联网概论课程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讲解工业互联网体系架构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覆盖边缘/网络/平台/应用四层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学生提问工业互联网定义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助手讲解四层架构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结合实际工业案例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提供学习路径建议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12.9s 平均响应 · 52 token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架构讲解完整准确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案例引用恰当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概念清晰易懂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教学场景：传感器选型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面向传感器原理与应用课程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讲解温度/压力/位移等传感器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提供选型决策支持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学生描述测量需求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助手分析工况条件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推荐合适传感器类型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给出选型依据与对比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选型建议合理准确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对比维度全面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结合知识库数据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支持多轮追问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教学场景：MES 系统咨询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面向制造执行系统课程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 MES 功能模块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覆盖生产/质量/物料/设备管理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学生提问 MES 概念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助手讲解九大功能模块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结合制造企业案例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提供实施建议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模块讲解完整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案例贴切实际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复杂概念解释清晰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支持深度追问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qwen3:8b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教学场景：数字孪生设计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面向数字孪生与仿真课程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讲解建模/仿真/虚实交互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结合工业数字孪生平台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学生描述物理对象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助手指导建模方法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讲解仿真验证流程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提供虚实同步方案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建模方法指导准确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仿真流程清晰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技术选型合理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支持方案迭代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qwen3:8b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教学场景：边缘计算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面向边缘计算课程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讲解边缘架构/部署/优化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结合工业边缘网关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学生提问边缘计算概念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助手讲解云边端协同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提供部署架构建议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优化方案指导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架构讲解清晰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部署方案可行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优化建议专业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结合实际设备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教学场景：工业数据分析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面向工业数据分析课程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讲解数据采集/清洗/分析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结合实际工业数据集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学生上传/描述数据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助手指导分析方法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提供可视化建议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解读分析结果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分析方法推荐合理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可视化方案清晰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结果解读准确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支持多数据源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qwen3:8b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教学知识库（7 个）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5371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服务课程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4827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嵌入模型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25712" y="1307592"/>
            <a:ext cx="253288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471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6659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043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编程教学手册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273552" y="175564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714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455371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编程/自动化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6597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6748272" y="175564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434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125712" y="175564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工业互联网协议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273552" y="230428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714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455371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工业网络/协议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6597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6748272" y="230428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434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125712" y="230428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工业安全规范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273552" y="285292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714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455371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6597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748272" y="285292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125712" y="285292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编程教程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40156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4714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55371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编程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66597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748272" y="340156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434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125712" y="340156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编程教程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273552" y="395020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4714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455371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编程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66597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6748272" y="395020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0434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125712" y="395020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软件工程基础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273552" y="449884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4714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455371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66597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6748272" y="449884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0434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125712" y="449884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502920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50474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工业互联网概论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191256" y="50292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3273552" y="504748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471416" y="50292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4553712" y="50474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工业互联网基础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665976" y="50292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6748272" y="504748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043416" y="50292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9125712" y="504748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1280160"/>
            <a:ext cx="11274552" cy="4297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个文档 · 631 个分段 · 全部索引完成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0" name="Shape 8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1" name="Text 8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3" name="Text 9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Code-Server AI 编程环境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 扩展 · Continue.dev · 多语言 · 自动评分 · WebSocket 修复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概览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已装扩展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支持语言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运行副本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编程助手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5" name="Text 23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342900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扩展包 + Maven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07208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07208" y="2926080"/>
            <a:ext cx="2194560" cy="4114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2807208" y="29260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44368" y="342900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 扩展 + Delve 调试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57216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57216" y="2926080"/>
            <a:ext cx="2194560" cy="4114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5157216" y="29260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94376" y="342900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rust-analyzer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07224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07224" y="2926080"/>
            <a:ext cx="2194560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7" name="Text 35"/>
          <p:cNvSpPr/>
          <p:nvPr/>
        </p:nvSpPr>
        <p:spPr>
          <a:xfrm>
            <a:off x="7507224" y="29260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44384" y="342900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+ Pylance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857232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7232" y="2926080"/>
            <a:ext cx="2194560" cy="4114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9857232" y="29260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C/C++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994392" y="342900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C/C++ 扩展 + GDB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52 个扩展 · 覆盖主流编程语言 · 支持 AI 辅助编程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code-server 企业版构建 · 自带 Continue.dev AI 编程助手 · 内置代码索引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5577840"/>
            <a:ext cx="11274552" cy="8229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核心扩展：Python · Java · Go · Rust · C/C++ · Continue · GitLens · Docker · YAML · ESLint · Prettier · 共 52 项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Shap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1" name="Text 4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&amp; JupyterLab 访问方式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Code-Server (Caddy 代理)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http://10.167.2.175:30087/vscode/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Caddy strip_prefix 自动去除 /vscode 前缀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 个扩展保留 · WebSocket 原生支持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密码: Dify@2026 · 无需 hosts 配置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IP 直连 · 跨节点访问正常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5352" y="1188720"/>
            <a:ext cx="5486400" cy="256032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32588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JupyterLab (原生子路径)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173736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http://10.167.2.175:30088/jupyter/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9672" y="224028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原生 base_url=/jupyter/ 配置 · 无需反向代理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19672" y="25603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内置 Python 科学计算 (NumPy/Pandas/Matplotlib)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19672" y="288036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无需密码 · 学生直接使用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19672" y="320040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IP 直连 · 无需任何配置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1127455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技术架构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10698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Code-Server 4.128.0 (Pod) → Caddy 2 (sidecar, :8081, strip_prefix /vscode) → NodePort :30087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4828032"/>
            <a:ext cx="10698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JupyterLab 4.0.7 (Pod, base_url=/jupyter/) → NodePort :30088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5175504"/>
            <a:ext cx="10698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两种方案均无需 hosts 文件、无需 Host 头、支持跨节点访问 (10.167.2.175/176)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7" name="Shap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0" name="Text 2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Continue.dev AI 编程助手配置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4140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配置项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0672" y="1307592"/>
            <a:ext cx="277977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配置值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16752" y="1307592"/>
            <a:ext cx="30540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17152" y="1307592"/>
            <a:ext cx="24414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08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9344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91348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聊天模型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083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090672" y="175564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3445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6016752" y="175564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代码问答/解释/重构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3485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9217152" y="175564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25856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 补全模型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083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090672" y="225856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3445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6016752" y="225856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代码行内自动补全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3485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9217152" y="225856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76148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嵌入模型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083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090672" y="276148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3445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6016752" y="276148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代码库索引嵌入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3485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9217152" y="276148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26440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网关地址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083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090672" y="326440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http://10.167.2.176:30083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3445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016752" y="326440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 统一网关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3485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217152" y="326440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76732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083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090672" y="376732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sk-ai-platform-master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3445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6016752" y="376732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认证密钥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13485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9217152" y="376732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27024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自动补全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0083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090672" y="427024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开启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93445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016752" y="427024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实时行内建议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13485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9217152" y="427024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77316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代码解释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00837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090672" y="477316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开启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93445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6016752" y="477316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选中代码解释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13485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9217152" y="477316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527608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重构建议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00837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3090672" y="527608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开启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93445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6016752" y="527608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代码改进建议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13485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9217152" y="527608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4805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Continue.dev 通过 LiteLLM 网关调用本地模型 · 完全离线工作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代码库索引优化方案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94360" y="1280160"/>
            <a:ext cx="5212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问题：内置索引禁用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Continue 内置代码索引占用内存大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多用户并发索引导致 OOM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索引构建慢 · 影响体验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全量索引 4b 嵌入模型资源消耗高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已禁用内置代码索引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5352" y="1280160"/>
            <a:ext cx="5486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280160"/>
            <a:ext cx="5486400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382512" y="1280160"/>
            <a:ext cx="5212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方案：知识库检索替代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19659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使用 Dify 知识库承载代码文档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28232" y="24231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按课程建立代码知识库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28232" y="28803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bge-m3 嵌入 · 资源占用低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28232" y="33375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通过 Dify 应用统一检索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28232" y="411480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改用 Dify KB 检索代码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内存占用下降 80% · 检索质量保持 · 支持并发用户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Shap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8" name="Text 2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作业自动评分（三层架构）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第一层 · 单元测试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自动运行测试用例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通过率评分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代码功能验证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已实现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0832" y="12801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280160"/>
            <a:ext cx="3703320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4462272" y="1280160"/>
            <a:ext cx="3520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第二层 · AI 评分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53712" y="201168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Continue.dev 评审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3712" y="251460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代码质量打分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53712" y="301752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风格规范检查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53712" y="40233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已实现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84464" y="12801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4" y="1280160"/>
            <a:ext cx="3703320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8375904" y="1280160"/>
            <a:ext cx="3520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第三层 · Dify 工作流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67344" y="201168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综合评分聚合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67344" y="251460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生成评语报告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67344" y="301752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反馈学生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67344" y="40233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已实现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60520" y="2377440"/>
            <a:ext cx="457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074152" y="2377440"/>
            <a:ext cx="457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三层结合：功能正确性 + 代码质量 + 综合评语 · 全自动作业批改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2120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单元测试 → AI 评分 → Dify 工作流聚合 → 自动生成评分报告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3" name="Shap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6" name="Text 3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功能测试（Playwright 浏览器测试）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测试方式：Playwright 模拟真实浏览器操作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07792" y="1399032"/>
            <a:ext cx="47914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45552" y="1399032"/>
            <a:ext cx="381304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28254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76325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078992" y="180136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访问入口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254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2907792" y="180136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导航 http://10.167.2.175:30087/vscode/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6325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7845552" y="1801368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302 跳转登录页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078992" y="2368296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登录系统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254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2907792" y="2368296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输入账号密码登录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6325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7845552" y="2368296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 IDE 界面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1078992" y="2935224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打开编辑器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254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2907792" y="2935224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选择工作区 · 打开文件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6325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7845552" y="2935224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编辑器正常加载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1078992" y="3502152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编辑代码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8254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2907792" y="3502152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输入代码 · 语法高亮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6325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7845552" y="3502152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高亮 + 补全正常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1078992" y="4069080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 测试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8254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2907792" y="4069080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 WS 连接状态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76325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7845552" y="4069080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WS 连接稳定 · 无断开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5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1078992" y="463600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检查错误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8254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2907792" y="463600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查看控制台 · 无报错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76325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7845552" y="4636008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错误 · 测试通过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WebSocket 代理修复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Ingress 默认不支持 WS 升级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旧方案 /cs/ 路径下 WS 连接 401 (已废弃)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终端/文件保存等 WS 功能失效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Proxy v4 缺少 upgrade 处理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5352" y="1280160"/>
            <a:ext cx="54864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6382512" y="128016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18745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使用 proxy v4 重写 WS 升级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28232" y="224028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http.request 手动处理 upgrade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28232" y="26060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设置 Connection: Upgrade 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28232" y="297180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正确转发 WS 到后端服务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1274552" cy="25603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033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关键代码：proxy WS upgrade 处理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proxy.on('proxyReq', (proxyReq, req) =&gt; {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(req.headers['connection']?.toLowerCase() === 'upgrade') {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proxyReq.setHeader('Connection', 'Upgrade');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proxyReq.setHeader('Upgrade', req.headers['upgrade']);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});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server.on('upgrade', (req, socket) =&gt; proxy.ws(req, socket));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1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4" name="Text 3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软件工程全流程 AI 辅助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194560" cy="12801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需求分析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需求拆解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291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用户故事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验收标准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07208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7208" y="1371600"/>
            <a:ext cx="2194560" cy="12801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2807208" y="1463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898648" y="19202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系统设计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44368" y="28346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架构设计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44368" y="3291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接口设计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44368" y="37490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数据建模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57216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57216" y="1371600"/>
            <a:ext cx="2194560" cy="12801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5157216" y="1463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48656" y="19202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编码实现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94376" y="28346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代码生成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94376" y="3291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补全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94376" y="37490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94376" y="42062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调试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07224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07224" y="1371600"/>
            <a:ext cx="2194560" cy="12801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1" name="Text 29"/>
          <p:cNvSpPr/>
          <p:nvPr/>
        </p:nvSpPr>
        <p:spPr>
          <a:xfrm>
            <a:off x="7507224" y="1463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98664" y="19202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测试验证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44384" y="28346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测试用例生成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44384" y="3291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单元测试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44384" y="37490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覆盖率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857232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57232" y="1371600"/>
            <a:ext cx="2194560" cy="12801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8" name="Text 36"/>
          <p:cNvSpPr/>
          <p:nvPr/>
        </p:nvSpPr>
        <p:spPr>
          <a:xfrm>
            <a:off x="9857232" y="1463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948672" y="19202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代码评审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94392" y="28346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质量检查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994392" y="3291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规范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94392" y="37490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安全扫描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Continue.dev + LiteLLM 提供软件工程全流程 AI 辅助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5" name="Shape 4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8" name="Text 4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压力测试结果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状态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运行副本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14996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并发数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4827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77072" y="3044952"/>
            <a:ext cx="30815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6659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4947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4472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登录页访问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9125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3273552" y="34472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3717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4919472" y="34472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6597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748272" y="34472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9477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577072" y="34472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全部跳转正常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9044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 静态资源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9125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273552" y="39044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919472" y="39044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6597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748272" y="39044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49477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8577072" y="39044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资源加载正常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43616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 连接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19125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3273552" y="43616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3717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4919472" y="43616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6597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748272" y="43616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49477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577072" y="43616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WS 连接稳定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Text 62"/>
          <p:cNvSpPr/>
          <p:nvPr/>
        </p:nvSpPr>
        <p:spPr>
          <a:xfrm>
            <a:off x="530352" y="48188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长连接保持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273552" y="48188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3717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4919472" y="48188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66597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748272" y="48188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49477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8577072" y="48188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无断开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530352" y="52760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内存占用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19125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3273552" y="52760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3717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4919472" y="52760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66597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6748272" y="52760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49477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577072" y="52760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稳定 &lt; 4Gi/副本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4" name="Text 82"/>
          <p:cNvSpPr/>
          <p:nvPr/>
        </p:nvSpPr>
        <p:spPr>
          <a:xfrm>
            <a:off x="530352" y="57332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占用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19125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3273552" y="57332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4919472" y="57332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66597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6748272" y="57332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49477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8577072" y="57332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峰值 60%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57200" y="3017520"/>
            <a:ext cx="11274552" cy="3154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 并发用户压测通过 · WS 代理修复后稳定运行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6" name="Shape 9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7" name="Text 9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9" name="Text 9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性能与压力测试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自动伸缩 · k6/Locust · 500 并发 · Redis 8 集群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66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HPA 自动伸缩配置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7680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87952" y="1307592"/>
            <a:ext cx="7680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最大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023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CPU 阈值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9691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内存阈值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1056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50200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2146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dify-api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3273552" y="175564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056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4187952" y="175564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00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510235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146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729691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0917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9491472" y="175564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2" name="Text 30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dify-worker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230428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056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4187952" y="230428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00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510235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146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729691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40917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9491472" y="230428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dify-web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273552" y="285292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056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187952" y="285292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00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510235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146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729691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40917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9491472" y="285292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340156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1056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4187952" y="340156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0200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10235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2146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729691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40917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491472" y="340156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273552" y="395020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1056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4187952" y="395020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0200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510235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2146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729691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40917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9491472" y="395020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0" name="Text 78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plugin-daemon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3273552" y="449884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1056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4187952" y="449884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0200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510235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2146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729691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40917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9491472" y="449884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HPA 基于 CPU/内存利用率自动伸缩 · 应对突发流量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4" name="Shap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5" name="Text 9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7" name="Text 9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k6 压力测试结果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9147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总迭代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请求/秒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9.53s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P95 响应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68112" y="304495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77072" y="3044952"/>
            <a:ext cx="30815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53858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84947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57200" y="3429000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344728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34290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344728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VU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85816" y="34290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468112" y="344728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k6 虚拟用户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494776" y="34290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8577072" y="344728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达成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112745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85876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总迭代次数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8404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385876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9147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85816" y="38404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468112" y="385876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完整请求次数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494776" y="38404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577072" y="385876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251960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27024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请求速率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425196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427024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req/s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425196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468112" y="427024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每秒请求数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494776" y="425196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577072" y="427024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稳定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68172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平均响应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466344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468172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385816" y="466344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468112" y="468172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平均响应时间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494776" y="466344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577072" y="468172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可接受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5074920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509320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P95 响应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507492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273552" y="509320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9.53s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385816" y="507492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5468112" y="509320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 分位响应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494776" y="507492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8577072" y="509320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达标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550468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错误率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91256" y="54864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3273552" y="550468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385816" y="54864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5468112" y="550468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失败请求比例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494776" y="54864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8577072" y="550468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零错误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530352" y="591616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伸缩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58978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3273552" y="591616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3→20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385816" y="58978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5468112" y="591616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dify-api 副本数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494776" y="58978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8577072" y="591616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自动伸缩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3017520"/>
            <a:ext cx="11274552" cy="32918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9" name="Shape 8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0" name="Text 8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2" name="Text 9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Locust 压力测试结果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8073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总请求数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失败数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044952"/>
            <a:ext cx="31455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94192" y="3044952"/>
            <a:ext cx="32644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50200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83118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57200" y="3429000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3447288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342900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3447288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0056" y="342900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102352" y="3447288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Locust 模拟用户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11896" y="342900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8394192" y="3447288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达成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813048"/>
            <a:ext cx="11274552" cy="38404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831336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总请求数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81304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3831336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8073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0056" y="381304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102352" y="3831336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完成请求总数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11896" y="381304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394192" y="3831336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197096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215384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失败请求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419709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4215384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0056" y="419709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102352" y="4215384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失败请求数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311896" y="419709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394192" y="4215384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零失败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581144"/>
            <a:ext cx="11274552" cy="38404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599432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成功率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4581144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4599432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20056" y="4581144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102352" y="4599432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请求成功率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11896" y="4581144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394192" y="4599432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全部成功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965192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983480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 RPS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965192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273552" y="4983480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0056" y="4965192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5102352" y="4983480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每秒请求数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311896" y="4965192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8394192" y="4983480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稳定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349240"/>
            <a:ext cx="11274552" cy="38404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5367528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平均响应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91256" y="534924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3273552" y="5367528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020056" y="534924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5102352" y="5367528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平均响应时间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311896" y="534924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8394192" y="5367528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良好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5733288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530352" y="5751576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中位响应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573328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3273552" y="5751576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020056" y="573328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5102352" y="5751576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分位响应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311896" y="573328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8394192" y="5751576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良好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6117336"/>
            <a:ext cx="11274552" cy="38404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6135624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峰值响应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191256" y="611733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3273552" y="6135624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8.7s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020056" y="611733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5102352" y="6135624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最大响应时间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8311896" y="611733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8394192" y="6135624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可接受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57200" y="3017520"/>
            <a:ext cx="11274552" cy="348386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7" name="Shap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8" name="Text 9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0" name="Text 9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压力测试（500 用户 · 302）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测试场景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3044952"/>
            <a:ext cx="11338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并发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8251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45552" y="3044952"/>
            <a:ext cx="381304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结果说明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570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3002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7763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4472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登录页访问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5701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3639312" y="34472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3717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4919472" y="34472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021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382512" y="34472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6325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7845552" y="34472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全部正确跳转登录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9044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 静态资源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55701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639312" y="39044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919472" y="39044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021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382512" y="39044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6325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7845552" y="39044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JS/CSS 加载正常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43616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 连接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55701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3639312" y="43616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3717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4919472" y="43616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0021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382512" y="43616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76325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7845552" y="43616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WS 升级成功稳定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Text 62"/>
          <p:cNvSpPr/>
          <p:nvPr/>
        </p:nvSpPr>
        <p:spPr>
          <a:xfrm>
            <a:off x="530352" y="48188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长连接保持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55701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639312" y="48188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3717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4919472" y="48188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0021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382512" y="48188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76325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7845552" y="48188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分钟无断开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530352" y="52760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终端交互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55701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3639312" y="52760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3717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4919472" y="52760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30021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6382512" y="52760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76325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7845552" y="52760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终端 WS 正常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4" name="Text 82"/>
          <p:cNvSpPr/>
          <p:nvPr/>
        </p:nvSpPr>
        <p:spPr>
          <a:xfrm>
            <a:off x="530352" y="57332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文件操作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55701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3639312" y="57332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4919472" y="57332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30021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6382512" y="57332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76325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7845552" y="57332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文件读写正常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57200" y="3017520"/>
            <a:ext cx="11274552" cy="3154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 并发下全部 302 · WS 代理修复后稳定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6" name="Shape 9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7" name="Text 9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9" name="Text 9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HPA 自动伸缩验证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压测前后副本数对比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压测前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16002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压测中（峰值）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dify-api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0" y="1965960"/>
            <a:ext cx="685800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2" name="Text 10"/>
          <p:cNvSpPr/>
          <p:nvPr/>
        </p:nvSpPr>
        <p:spPr>
          <a:xfrm>
            <a:off x="2560320" y="19202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965960"/>
            <a:ext cx="4572000" cy="3200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2"/>
          <p:cNvSpPr/>
          <p:nvPr/>
        </p:nvSpPr>
        <p:spPr>
          <a:xfrm>
            <a:off x="10104120" y="19202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dify-worker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2834640"/>
            <a:ext cx="685800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7" name="Text 15"/>
          <p:cNvSpPr/>
          <p:nvPr/>
        </p:nvSpPr>
        <p:spPr>
          <a:xfrm>
            <a:off x="2560320" y="278892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2834640"/>
            <a:ext cx="2743200" cy="3200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8275320" y="278892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3703320"/>
            <a:ext cx="457200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2" name="Text 20"/>
          <p:cNvSpPr/>
          <p:nvPr/>
        </p:nvSpPr>
        <p:spPr>
          <a:xfrm>
            <a:off x="2331720" y="365760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3703320"/>
            <a:ext cx="1828800" cy="320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7360920" y="365760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0" y="4572000"/>
            <a:ext cx="685800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7" name="Text 25"/>
          <p:cNvSpPr/>
          <p:nvPr/>
        </p:nvSpPr>
        <p:spPr>
          <a:xfrm>
            <a:off x="2560320" y="452628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4572000"/>
            <a:ext cx="2286000" cy="3200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7818120" y="452628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292608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589520" y="1371600"/>
            <a:ext cx="4142232" cy="457200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508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伸缩时间线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63840" y="2167128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4" name="Text 32"/>
          <p:cNvSpPr/>
          <p:nvPr/>
        </p:nvSpPr>
        <p:spPr>
          <a:xfrm>
            <a:off x="8183880" y="210312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61120" y="210312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副本 · 空闲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63840" y="2734056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7" name="Text 35"/>
          <p:cNvSpPr/>
          <p:nvPr/>
        </p:nvSpPr>
        <p:spPr>
          <a:xfrm>
            <a:off x="8183880" y="2670048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61120" y="2670048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70% · 触发扩容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63840" y="3300984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0" name="Text 38"/>
          <p:cNvSpPr/>
          <p:nvPr/>
        </p:nvSpPr>
        <p:spPr>
          <a:xfrm>
            <a:off x="8183880" y="3236976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961120" y="3236976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扩至 8 副本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63840" y="3867912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3" name="Text 41"/>
          <p:cNvSpPr/>
          <p:nvPr/>
        </p:nvSpPr>
        <p:spPr>
          <a:xfrm>
            <a:off x="8183880" y="3803904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120s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61120" y="3803904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峰值 20 副本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863840" y="4434840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6" name="Text 44"/>
          <p:cNvSpPr/>
          <p:nvPr/>
        </p:nvSpPr>
        <p:spPr>
          <a:xfrm>
            <a:off x="8183880" y="4370832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180s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961120" y="437083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流量回落 · 缩容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6384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9" name="Text 47"/>
          <p:cNvSpPr/>
          <p:nvPr/>
        </p:nvSpPr>
        <p:spPr>
          <a:xfrm>
            <a:off x="8183880" y="493776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961120" y="493776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回落至 3 副本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6126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HPA 自动伸缩验证通过 · 30 秒内响应 · 峰值扩容 6.7 倍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3" name="Shap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6" name="Text 5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Ollama 并行推理优化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并行推理路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-1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模型常驻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常驻模型数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0ms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冷启动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配置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默认值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044952"/>
            <a:ext cx="50932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效果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570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50200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4830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57200" y="34290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344728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NUM_PARALLEL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5701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639312" y="344728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005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102352" y="344728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8309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6565392" y="3447288"/>
            <a:ext cx="509320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路并发推理 · 吞吐提升 8 倍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95020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KEEP_ALIVE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5701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639312" y="395020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005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102352" y="395020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8309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6565392" y="3950208"/>
            <a:ext cx="509320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模型常驻 · 零冷启动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4348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45312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MAX_LOADED_MODELS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55701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639312" y="445312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005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102352" y="445312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8309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565392" y="4453128"/>
            <a:ext cx="509320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个热门模型常驻内存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95604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FLASH_ATTENTION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55701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639312" y="495604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2005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102352" y="495604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48309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6565392" y="4956048"/>
            <a:ext cx="509320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推理加速约 20%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545896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NUM_CTX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557016" y="54406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639312" y="545896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2048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0056" y="54406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5102352" y="545896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8192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83096" y="54406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565392" y="5458968"/>
            <a:ext cx="509320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支持长上下文 8K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3017520"/>
            <a:ext cx="11274552" cy="29260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3" name="Shape 7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6" name="Text 7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Redis 8 集群性能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主节点数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16384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槽位数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8.10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版本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可用性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节点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0779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地址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槽位范围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94192" y="3044952"/>
            <a:ext cx="32644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25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0200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4830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3118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44728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Master-1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254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2907792" y="3447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005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5102352" y="344728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830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565392" y="344728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0–5460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3118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394192" y="344728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在线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99592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Master-2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254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2907792" y="3995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005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5102352" y="399592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830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565392" y="399592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5461–10922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3118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8394192" y="399592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在线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454456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Master-3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8254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2907792" y="4544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005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5102352" y="454456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830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565392" y="454456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10923–16383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118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394192" y="454456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在线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3017520"/>
            <a:ext cx="11274552" cy="20574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Redis 8 集群 · 3 主节点 · 16384 槽全分配 · 100% 可用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内存优化效果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Worker 节点内存（128GB）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783080"/>
            <a:ext cx="8686800" cy="54864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10" name="Shape 8"/>
          <p:cNvSpPr/>
          <p:nvPr/>
        </p:nvSpPr>
        <p:spPr>
          <a:xfrm>
            <a:off x="2286000" y="1783080"/>
            <a:ext cx="8479971" cy="548640"/>
          </a:xfrm>
          <a:prstGeom prst="roundRect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2286000" y="2377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123GB / 126GB (98%)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971800"/>
            <a:ext cx="8686800" cy="54864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14" name="Shape 12"/>
          <p:cNvSpPr/>
          <p:nvPr/>
        </p:nvSpPr>
        <p:spPr>
          <a:xfrm>
            <a:off x="2286000" y="2971800"/>
            <a:ext cx="1585686" cy="54864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2286000" y="3566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23GB / 126GB (18%)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74552" cy="14630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5196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↓ 内存下降 81%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425196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123GB → 23GB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措施：禁用代码索引 · Ollama 模型常驻 · 清理冗余 Pod · 资源 Request/Limit 收紧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释放 100GB 内存 · 可支撑更多并发用户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2" name="Shap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容量规划目标分析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目标用户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 目标用户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总并发目标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可达成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14996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目标用户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4996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所需副本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内存需求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59952" y="3044952"/>
            <a:ext cx="289864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4830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6776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447288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dify-api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9125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3273552" y="3447288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3717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4919472" y="3447288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8309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565392" y="3447288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60GB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67765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759952" y="3447288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67912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886200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dify-worker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9125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273552" y="3886200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919472" y="3886200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8309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565392" y="3886200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36GB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67765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8759952" y="3886200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06824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432511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19125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3273552" y="432511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3717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4919472" y="432511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8309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565392" y="432511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40GB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67765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759952" y="4325112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45736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Text 62"/>
          <p:cNvSpPr/>
          <p:nvPr/>
        </p:nvSpPr>
        <p:spPr>
          <a:xfrm>
            <a:off x="530352" y="4764024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273552" y="4764024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3717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4919472" y="4764024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8309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565392" y="4764024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16GB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67765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8759952" y="4764024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184648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530352" y="5202936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19125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3273552" y="5202936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3717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4919472" y="5202936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路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48309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6565392" y="5202936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23GB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67765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759952" y="5202936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5623560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4" name="Text 82"/>
          <p:cNvSpPr/>
          <p:nvPr/>
        </p:nvSpPr>
        <p:spPr>
          <a:xfrm>
            <a:off x="530352" y="5641848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集群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19125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3273552" y="5641848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4919472" y="5641848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48309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6565392" y="5641848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6GB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67765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8759952" y="5641848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57200" y="6062472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4" name="Text 92"/>
          <p:cNvSpPr/>
          <p:nvPr/>
        </p:nvSpPr>
        <p:spPr>
          <a:xfrm>
            <a:off x="530352" y="6080760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总内存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319125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3273552" y="6080760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8000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83717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8" name="Text 96"/>
          <p:cNvSpPr/>
          <p:nvPr/>
        </p:nvSpPr>
        <p:spPr>
          <a:xfrm>
            <a:off x="4919472" y="6080760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48309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0" name="Text 98"/>
          <p:cNvSpPr/>
          <p:nvPr/>
        </p:nvSpPr>
        <p:spPr>
          <a:xfrm>
            <a:off x="6565392" y="6080760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≈100GB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867765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2" name="Text 100"/>
          <p:cNvSpPr/>
          <p:nvPr/>
        </p:nvSpPr>
        <p:spPr>
          <a:xfrm>
            <a:off x="8759952" y="6080760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126GB 充足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457200" y="3017520"/>
            <a:ext cx="11274552" cy="348386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5" name="Shape 10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6" name="Text 10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8" name="Text 10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平台对比分析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vs Coze vs FastGPT · 功能 · 安全 · 部署 · 性能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vs Coze vs FastGPT 对比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822960"/>
            <a:ext cx="103601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三维对比 · 10 项指标 · 绿色 = 优势 / 红色 = 劣势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234440"/>
            <a:ext cx="10360152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987552" y="1234440"/>
            <a:ext cx="27797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13632" y="1234440"/>
            <a:ext cx="351129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Dify（本地部署）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71232" y="1234440"/>
            <a:ext cx="36301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Coze / FastGPT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1737360"/>
            <a:ext cx="103601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987552" y="173736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数据安全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13632" y="173736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完全本地 · 数据不出内网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71232" y="173736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3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数据上云 · 隐私风险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2148840"/>
            <a:ext cx="103601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7" name="Text 15"/>
          <p:cNvSpPr/>
          <p:nvPr/>
        </p:nvSpPr>
        <p:spPr>
          <a:xfrm>
            <a:off x="987552" y="214884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内网访问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13632" y="214884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纯内网 · 无需公网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71232" y="214884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3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需公网 / 仅 SaaS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2560320"/>
            <a:ext cx="103601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987552" y="256032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自动伸缩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13632" y="256032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K8s HPA · 3→20 副本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71232" y="256032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3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无 HPA · 固定规格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2971800"/>
            <a:ext cx="103601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987552" y="297180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模型自由度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13632" y="297180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26 本地模型可选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297180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受限于云厂商模型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3383280"/>
            <a:ext cx="103601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987552" y="338328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应用数量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13632" y="338328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58 个教学应用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71232" y="338328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需自行搭建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3794760"/>
            <a:ext cx="103601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3" name="Text 31"/>
          <p:cNvSpPr/>
          <p:nvPr/>
        </p:nvSpPr>
        <p:spPr>
          <a:xfrm>
            <a:off x="987552" y="379476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13632" y="379476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12 数据集 · bge-m3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71232" y="379476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支持（云方案）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4206240"/>
            <a:ext cx="103601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Text 35"/>
          <p:cNvSpPr/>
          <p:nvPr/>
        </p:nvSpPr>
        <p:spPr>
          <a:xfrm>
            <a:off x="987552" y="420624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工作流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13632" y="420624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可视化编排 · 6 个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71232" y="420624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Coze 支持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4617720"/>
            <a:ext cx="103601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987552" y="461772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13632" y="461772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ReAct · 工具调用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71232" y="461772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Coze 支持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14400" y="5029200"/>
            <a:ext cx="103601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987552" y="502920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性能压测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13632" y="502920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500 并发 · k6/Locust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571232" y="502920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3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无法自测云端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14400" y="5440680"/>
            <a:ext cx="103601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9" name="Text 47"/>
          <p:cNvSpPr/>
          <p:nvPr/>
        </p:nvSpPr>
        <p:spPr>
          <a:xfrm>
            <a:off x="987552" y="544068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成本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913632" y="544068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一次性硬件 · 0 运营费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571232" y="544068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3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按量付费 · 长期高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4400" y="1234440"/>
            <a:ext cx="10360152" cy="4617720"/>
          </a:xfrm>
          <a:prstGeom prst="rect">
            <a:avLst/>
          </a:prstGeom>
          <a:ln w="1905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40480" y="12344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080" y="12344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4400" y="6126480"/>
            <a:ext cx="10360152" cy="64008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97280" y="6126480"/>
            <a:ext cx="99943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结论：本地化教学场景下 Dify 在安全 / 内网 / 伸缩 / 成本上全面领先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8" name="Shape 5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1" name="Text 5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核心优势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645920"/>
            <a:ext cx="914400" cy="9144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1097280" y="16459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安全可控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数据完全本地化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不出内网 · 合规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07208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1645920"/>
            <a:ext cx="914400" cy="9144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3447288" y="16459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898648" y="26974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教学适配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90088" y="3246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 个教学应用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90088" y="3703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 IoT 全场景覆盖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57216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97296" y="1645920"/>
            <a:ext cx="914400" cy="9144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5797296" y="16459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⚙️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48656" y="26974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高度定制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0096" y="3246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层代码补丁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0096" y="3703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插件生态 · 模型自由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07224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47304" y="1645920"/>
            <a:ext cx="914400" cy="9144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8147304" y="16459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⚡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598664" y="26974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性能卓越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90104" y="3246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自动伸缩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90104" y="3703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并发压测通过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857232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97312" y="1645920"/>
            <a:ext cx="914400" cy="9144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10497312" y="16459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948672" y="26974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纯内网部署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40112" y="3246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无需公网 · 离线工作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40112" y="3703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 直连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五大核心优势 · 本地化教学 AI 平台最佳选择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Coze / FastGPT 局限性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731520" y="128016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28016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数据隐私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2801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数据需上传云端 · 无法满足本地化合规要求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731520" y="205740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05740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内网访问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0574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依赖公网 · 教学环境无公网时不可用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731520" y="283464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283464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自动伸缩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8346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SaaS 固定规格 · 无法按需 HPA 弹性扩容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1188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731520" y="361188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361188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模型选择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611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受限于云厂商模型 · 无法使用本地 26 模型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38912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9" name="Text 27"/>
          <p:cNvSpPr/>
          <p:nvPr/>
        </p:nvSpPr>
        <p:spPr>
          <a:xfrm>
            <a:off x="731520" y="438912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438912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性能压测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43891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无法自测云端服务性能 · 无压测数据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16636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16636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4" name="Text 32"/>
          <p:cNvSpPr/>
          <p:nvPr/>
        </p:nvSpPr>
        <p:spPr>
          <a:xfrm>
            <a:off x="731520" y="516636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" y="516636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长期成本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0" y="51663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按量付费 · 教学长期使用成本高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结论：本地化教学场景下 Coze/FastGPT 存在关键局限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部署方案推荐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146304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推荐方案：Dify 本地化部署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教学场景首选 · 数据安全 · 成本可控 · 功能完备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530352" y="2953512"/>
            <a:ext cx="25968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评估项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73552" y="295351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02352" y="295351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Coze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31152" y="295351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FastGPT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59952" y="2953512"/>
            <a:ext cx="289864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推荐理由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912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50200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8488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6776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530352" y="335584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数据安全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91256" y="3337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3273552" y="33558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0056" y="3337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5" name="Text 23"/>
          <p:cNvSpPr/>
          <p:nvPr/>
        </p:nvSpPr>
        <p:spPr>
          <a:xfrm>
            <a:off x="5102352" y="33558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48856" y="3337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6931152" y="33558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77656" y="3337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8759952" y="3355848"/>
            <a:ext cx="28986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本地化 · 零外泄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1" name="Text 29"/>
          <p:cNvSpPr/>
          <p:nvPr/>
        </p:nvSpPr>
        <p:spPr>
          <a:xfrm>
            <a:off x="530352" y="381304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内网支持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91256" y="3794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3" name="Text 31"/>
          <p:cNvSpPr/>
          <p:nvPr/>
        </p:nvSpPr>
        <p:spPr>
          <a:xfrm>
            <a:off x="3273552" y="38130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0056" y="3794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5102352" y="38130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48856" y="3794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6931152" y="38130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677656" y="3794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759952" y="3813048"/>
            <a:ext cx="28986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纯内网工作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530352" y="427024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伸缩能力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91256" y="4251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3273552" y="42702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0056" y="4251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5102352" y="42702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48856" y="4251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6931152" y="42702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77656" y="4251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9" name="Text 47"/>
          <p:cNvSpPr/>
          <p:nvPr/>
        </p:nvSpPr>
        <p:spPr>
          <a:xfrm>
            <a:off x="8759952" y="4270248"/>
            <a:ext cx="28986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HPA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1" name="Text 49"/>
          <p:cNvSpPr/>
          <p:nvPr/>
        </p:nvSpPr>
        <p:spPr>
          <a:xfrm>
            <a:off x="530352" y="472744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教学应用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91256" y="4709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3273552" y="47274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0056" y="4709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5102352" y="47274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48856" y="4709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7" name="Text 55"/>
          <p:cNvSpPr/>
          <p:nvPr/>
        </p:nvSpPr>
        <p:spPr>
          <a:xfrm>
            <a:off x="6931152" y="47274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677656" y="4709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8759952" y="4727448"/>
            <a:ext cx="28986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 个应用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51663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530352" y="518464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成本控制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191256" y="5166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3273552" y="51846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020056" y="5166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5" name="Text 63"/>
          <p:cNvSpPr/>
          <p:nvPr/>
        </p:nvSpPr>
        <p:spPr>
          <a:xfrm>
            <a:off x="5102352" y="51846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848856" y="5166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7" name="Text 65"/>
          <p:cNvSpPr/>
          <p:nvPr/>
        </p:nvSpPr>
        <p:spPr>
          <a:xfrm>
            <a:off x="6931152" y="51846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677656" y="5166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9" name="Text 67"/>
          <p:cNvSpPr/>
          <p:nvPr/>
        </p:nvSpPr>
        <p:spPr>
          <a:xfrm>
            <a:off x="8759952" y="5184648"/>
            <a:ext cx="28986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一次投入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2926080"/>
            <a:ext cx="11274552" cy="26974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综合评分：Dify ★★★★★ · 全面领先 · 强烈推荐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3" name="Shape 7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6" name="Text 7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08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08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运维与监控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 · Grafana · Redis 8 · K8s 问题修复 · 备份恢复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81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Rancher 集群管理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集群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集群节点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节点健康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管理工作负载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集群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07792" y="3044952"/>
            <a:ext cx="24140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节点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6811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K8s 版本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9691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91472" y="3044952"/>
            <a:ext cx="21671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管理对象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25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3858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72146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9409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6400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447288"/>
            <a:ext cx="223113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25496" y="342900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2907792" y="3447288"/>
            <a:ext cx="241401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10.167.2.175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85816" y="342900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5468112" y="3447288"/>
            <a:ext cx="168249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v1.28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14616" y="342900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7296912" y="3447288"/>
            <a:ext cx="204825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健康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409176" y="342900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9491472" y="3447288"/>
            <a:ext cx="216712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 自身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69080"/>
            <a:ext cx="11274552" cy="6400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4087368"/>
            <a:ext cx="223113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dify-cluster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25496" y="406908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2907792" y="4087368"/>
            <a:ext cx="241401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Worker 10.167.2.176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385816" y="406908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5468112" y="4087368"/>
            <a:ext cx="168249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v1.28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14616" y="406908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7296912" y="4087368"/>
            <a:ext cx="204825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健康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409176" y="406908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9491472" y="4087368"/>
            <a:ext cx="216712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全栈服务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3017520"/>
            <a:ext cx="11274552" cy="16916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Rancher 统一管理 2 集群 · 节点全部健康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Shap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9" name="Text 5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Grafana 监控面板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监控面板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实时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数据采集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在线可用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109728" cy="12344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5" name="Text 23"/>
          <p:cNvSpPr/>
          <p:nvPr/>
        </p:nvSpPr>
        <p:spPr>
          <a:xfrm>
            <a:off x="685800" y="301752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集群资源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CPU/内存/磁盘/网络 · 8 面板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70832" y="292608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2926080"/>
            <a:ext cx="109728" cy="12344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4599432" y="301752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Pod 状态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99432" y="342900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副本数/重启/健康 · 6 面板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84464" y="292608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2926080"/>
            <a:ext cx="109728" cy="12344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8513064" y="301752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K8s 性能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13064" y="342900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Server/etcd/调度 · 5 面板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43400"/>
            <a:ext cx="109728" cy="12344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7" name="Text 35"/>
          <p:cNvSpPr/>
          <p:nvPr/>
        </p:nvSpPr>
        <p:spPr>
          <a:xfrm>
            <a:off x="685800" y="44348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 服务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" y="484632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API/Worker/Web · 6 面板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70832" y="434340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832" y="4343400"/>
            <a:ext cx="109728" cy="12344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4599432" y="44348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Ollama 推理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99432" y="484632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模型/耗时/QPS · 4 面板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84464" y="434340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84464" y="4343400"/>
            <a:ext cx="109728" cy="12344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5" name="Text 43"/>
          <p:cNvSpPr/>
          <p:nvPr/>
        </p:nvSpPr>
        <p:spPr>
          <a:xfrm>
            <a:off x="8513064" y="44348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Redis 性能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13064" y="484632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命中率/QPS/内存 · 4 面板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33 个监控面板 · 5 个数据源 · 全栈可观测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9" name="Shap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2" name="Text 5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Redis 8 集群状态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主节点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16384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槽位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8.10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全在线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节点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2491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地址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1338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963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槽位范围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9419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角色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22992" y="3044952"/>
            <a:ext cx="14356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426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1173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83118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101406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530352" y="3447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redis-0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4261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2724912" y="3447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3717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4919472" y="344728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1733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6199632" y="3447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0–5460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3118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8394192" y="344728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1406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10222992" y="3447288"/>
            <a:ext cx="1435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995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redis-1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4261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724912" y="3995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3717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919472" y="399592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30091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1733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199632" y="3995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5461–10922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118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8394192" y="399592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1406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10222992" y="3995928"/>
            <a:ext cx="1435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0" name="Text 58"/>
          <p:cNvSpPr/>
          <p:nvPr/>
        </p:nvSpPr>
        <p:spPr>
          <a:xfrm>
            <a:off x="530352" y="4544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redis-2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64261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2724912" y="4544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3717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4919472" y="454456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30092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1733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6199632" y="4544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10923–16383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3118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8394192" y="454456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1406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10222992" y="4544568"/>
            <a:ext cx="1435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3017520"/>
            <a:ext cx="11274552" cy="20574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集群密码已配置 · 16384 槽全部分配 · 集群状态 OK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4" name="Shape 7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5" name="Text 7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7" name="Text 7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Redis Cluster MOVED 错误修复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问题：MOVED 错误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客户端直连 NodePort 获取 MOVED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返回节点 IP 为集群内部 IP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外部无法访问正确槽位节点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导致 Key 路由失败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5352" y="1280160"/>
            <a:ext cx="54864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6382512" y="128016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192024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cluster-announce-ip 设外部 IP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28232" y="233172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externalTrafficPolicy: Local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28232" y="274320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保留客户端真实源 IP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28232" y="315468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MOVED 重定向可达正确节点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11274552" cy="22860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关键配置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343400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Redis 集群配置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cluster-announce-ip: 10.167.2.175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4855464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cluster-announce-port: 30090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5111496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cluster-announce-bus-port: 30090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5367528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5623560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Service 配置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879592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externalTrafficPolicy: Local   # 保留源 IP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1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4" name="Text 3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K8s 集群问题修复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40599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14032" y="1307592"/>
            <a:ext cx="45445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0317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530352" y="1755648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kubelet 认证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2549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6" name="Text 14"/>
          <p:cNvSpPr/>
          <p:nvPr/>
        </p:nvSpPr>
        <p:spPr>
          <a:xfrm>
            <a:off x="2907792" y="1755648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节点 NotReady · 证书过期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3173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7114032" y="1755648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续签证书 · 重启 kubelet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0" name="Text 18"/>
          <p:cNvSpPr/>
          <p:nvPr/>
        </p:nvSpPr>
        <p:spPr>
          <a:xfrm>
            <a:off x="530352" y="2322576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孤儿进程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2549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2907792" y="2322576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僵尸进程堆积 · 内存泄漏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3173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7114032" y="2322576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清理 orphan Pod · 设置回收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530352" y="2889504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iptables DNAT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2549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2907792" y="2889504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 偶发不通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3173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7114032" y="2889504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重置 iptables · 重启 kube-proxy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2" name="Text 30"/>
          <p:cNvSpPr/>
          <p:nvPr/>
        </p:nvSpPr>
        <p:spPr>
          <a:xfrm>
            <a:off x="530352" y="3456432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Calico 路由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2549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2907792" y="3456432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Pod 间网络中断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3173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7114032" y="3456432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重建 calico-node · 修复 BGP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4023360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CoreDNS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2549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2907792" y="4023360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域名解析失败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3173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7114032" y="4023360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重启 CoreDNS · 检查上游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4590288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etcd 性能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2549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2907792" y="4590288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Server 慢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3173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7114032" y="4590288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压缩 etcd · 清理历史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类 K8s 问题全部修复 · 集群稳定运行 90+ 天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2" name="Shap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5" name="Text 5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备份与恢复策略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备份对象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频率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3659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1403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654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0317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2549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2907792" y="17556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5429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4736592" y="1755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3173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7114032" y="1755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pg_dump + PVC 快照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40917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491472" y="17556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212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Weaviate 向量库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2549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2907792" y="22128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5429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4736592" y="2212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3173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7114032" y="2212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PVC 快照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0917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491472" y="22128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6517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670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7 (Dify)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2549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2907792" y="26700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5429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4736592" y="2670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3173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114032" y="2670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RDB + PVC 快照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40917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491472" y="26700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1272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8 集群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82549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907792" y="31272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每日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5429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736592" y="31272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天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173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114032" y="31272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RDB 快照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40917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491472" y="31272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5844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配置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82549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2907792" y="35844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变更时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5429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4736592" y="35844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永久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3173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7114032" y="35844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版本管理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40917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491472" y="35844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041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资源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82549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2907792" y="40416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变更时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5429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4736592" y="4041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永久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03173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7114032" y="4041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kubectl export + Git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40917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491472" y="40416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4498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工作区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82549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2907792" y="44988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每日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65429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4736592" y="4498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天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03173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7114032" y="4498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PVC 快照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40917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9491472" y="44988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4956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监控数据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82549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2907792" y="49560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65429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4736592" y="4956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天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03173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7114032" y="4956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Loki/Prometheus 滚动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40917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9491472" y="49560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57200" y="1280160"/>
            <a:ext cx="11274552" cy="41148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全栈备份策略 · RPO &lt; 24h · 恢复演练通过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0" name="Shape 9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1" name="Text 9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3" name="Text 10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资源优化策略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优化后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62672" y="1307592"/>
            <a:ext cx="3995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措施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7580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副本数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27355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固定高副本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858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546811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弹性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037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7662672" y="175564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3→20 按需伸缩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内存占用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27355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123GB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858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546811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23GB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8037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7662672" y="230428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禁用索引 · 清理 Pod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模型加载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按需加载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858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46811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常驻 4 个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8037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7662672" y="285292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KEEP_ALIVE=-1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限制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无限制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858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46811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Request/Limit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58037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7662672" y="340156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防止单 Pod 抢占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存储清理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日志堆积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46811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滚动保留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8037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662672" y="395020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Loki 30 天滚动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Pod 驱逐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无策略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3858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46811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PDB 保护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58037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7662672" y="449884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维护期间最少副本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资源优化后 · 内存下降 81% · 弹性伸缩 · 集群更稳定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账户角色与权限体系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37160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925726"/>
            <a:ext cx="2606040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 所有者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28016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37160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1925726"/>
            <a:ext cx="2606040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管理员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18872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28016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37160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1925726"/>
            <a:ext cx="2606040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Editor 编辑者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1188720"/>
            <a:ext cx="3044952" cy="118872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28016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371600"/>
            <a:ext cx="304495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1925726"/>
            <a:ext cx="3044952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普通用户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11274552" cy="38404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2633472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权限项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07792" y="2633472"/>
            <a:ext cx="18653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19472" y="2633472"/>
            <a:ext cx="18653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31152" y="2633472"/>
            <a:ext cx="18653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Editor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942832" y="2633472"/>
            <a:ext cx="2715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Normal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25496" y="26060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4837176" y="26060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848856" y="26060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860536" y="26060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2990088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008376"/>
            <a:ext cx="223113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工作空间管理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25496" y="299008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2907792" y="300837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全权限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37176" y="299008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4919472" y="300837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48856" y="299008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931152" y="300837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860536" y="299008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942832" y="3008376"/>
            <a:ext cx="271576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401568"/>
            <a:ext cx="112745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419856"/>
            <a:ext cx="223113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成员管理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25496" y="340156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2907792" y="341985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全角色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37176" y="340156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919472" y="341985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editor/normal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48856" y="340156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931152" y="341985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860536" y="340156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8942832" y="3419856"/>
            <a:ext cx="271576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3813048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3831336"/>
            <a:ext cx="223113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应用管理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825496" y="381304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2907792" y="383133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37176" y="381304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4919472" y="383133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48856" y="381304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931152" y="383133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860536" y="381304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942832" y="3831336"/>
            <a:ext cx="271576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仅使用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4224528"/>
            <a:ext cx="112745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Text 62"/>
          <p:cNvSpPr/>
          <p:nvPr/>
        </p:nvSpPr>
        <p:spPr>
          <a:xfrm>
            <a:off x="530352" y="4242816"/>
            <a:ext cx="223113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知识库管理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825496" y="422452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2907792" y="424281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837176" y="422452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4919472" y="424281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48856" y="422452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931152" y="424281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860536" y="422452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8942832" y="4242816"/>
            <a:ext cx="271576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7200" y="4636008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530352" y="4654296"/>
            <a:ext cx="223113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模型配置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825496" y="463600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2907792" y="465429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837176" y="463600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4919472" y="465429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848856" y="463600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6931152" y="465429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使用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860536" y="463600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942832" y="4654296"/>
            <a:ext cx="271576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57200" y="5047488"/>
            <a:ext cx="112745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4" name="Text 82"/>
          <p:cNvSpPr/>
          <p:nvPr/>
        </p:nvSpPr>
        <p:spPr>
          <a:xfrm>
            <a:off x="530352" y="5065776"/>
            <a:ext cx="223113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825496" y="504748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2907792" y="506577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837176" y="504748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4919472" y="506577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848856" y="504748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6931152" y="506577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860536" y="504748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8942832" y="5065776"/>
            <a:ext cx="271576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57200" y="5458968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4" name="Text 92"/>
          <p:cNvSpPr/>
          <p:nvPr/>
        </p:nvSpPr>
        <p:spPr>
          <a:xfrm>
            <a:off x="530352" y="5477256"/>
            <a:ext cx="223113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工作流编排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25496" y="545896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2907792" y="547725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837176" y="545896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8" name="Text 96"/>
          <p:cNvSpPr/>
          <p:nvPr/>
        </p:nvSpPr>
        <p:spPr>
          <a:xfrm>
            <a:off x="4919472" y="547725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848856" y="545896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0" name="Text 98"/>
          <p:cNvSpPr/>
          <p:nvPr/>
        </p:nvSpPr>
        <p:spPr>
          <a:xfrm>
            <a:off x="6931152" y="5477256"/>
            <a:ext cx="186537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860536" y="5458968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2" name="Text 100"/>
          <p:cNvSpPr/>
          <p:nvPr/>
        </p:nvSpPr>
        <p:spPr>
          <a:xfrm>
            <a:off x="8942832" y="5477256"/>
            <a:ext cx="271576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57200" y="2606040"/>
            <a:ext cx="11274552" cy="326440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个账户 · 4 种角色 · 统一密码 Difyai123456 · 学生用 Normal 角色访问已发布应用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6" name="Shape 10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7" name="Text 10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9" name="Text 10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88b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知识库局域网访问方式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4747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34747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18872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方式一：Web 界面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浏览器打开平台地址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Owner/Admin/Editor 登录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左侧导航 → 知识库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15184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选择目标知识库 → 检索测试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1188720"/>
            <a:ext cx="347472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188720"/>
            <a:ext cx="34747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4206240" y="118872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方式二：应用对话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51960" y="17373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 Normal 账号登录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51960" y="202996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选择关联知识库的应用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51960" y="2322576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对话自动触发知识库检索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51960" y="2615184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无需管理知识库权限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0" y="1188720"/>
            <a:ext cx="395935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1188720"/>
            <a:ext cx="3959352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7863840" y="1188720"/>
            <a:ext cx="37764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方式三：API 调用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09560" y="1737360"/>
            <a:ext cx="3685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Owner/Admin/Editor 获取 API Key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09560" y="2029968"/>
            <a:ext cx="3685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/v1/chat-messages 对话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09560" y="2322576"/>
            <a:ext cx="3685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/console/api/datasets/retrieve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09560" y="2615184"/>
            <a:ext cx="36850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支持程序化检索知识库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11274552" cy="3657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9" name="Text 27"/>
          <p:cNvSpPr/>
          <p:nvPr/>
        </p:nvSpPr>
        <p:spPr>
          <a:xfrm>
            <a:off x="530352" y="3685032"/>
            <a:ext cx="39684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应用名称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45152" y="3685032"/>
            <a:ext cx="3511296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关联知识库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02752" y="3685032"/>
            <a:ext cx="335584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访问方式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62856" y="3657600"/>
            <a:ext cx="18288" cy="36576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8220456" y="3657600"/>
            <a:ext cx="18288" cy="36576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457200" y="4023360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530352" y="4041648"/>
            <a:ext cx="3968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 + 聊天机器人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62856" y="402336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4645152" y="4041648"/>
            <a:ext cx="35112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工业互联网教学知识库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0456" y="402336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302752" y="4041648"/>
            <a:ext cx="33558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对话触发检索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407408"/>
            <a:ext cx="11274552" cy="38404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4425696"/>
            <a:ext cx="3968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PLC编程教学助手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62856" y="440740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4645152" y="4425696"/>
            <a:ext cx="35112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PLC编程教程知识库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20456" y="440740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8302752" y="4425696"/>
            <a:ext cx="33558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对话触发检索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791456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530352" y="4809744"/>
            <a:ext cx="3968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Python编程教学助手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62856" y="479145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9" name="Text 47"/>
          <p:cNvSpPr/>
          <p:nvPr/>
        </p:nvSpPr>
        <p:spPr>
          <a:xfrm>
            <a:off x="4645152" y="4809744"/>
            <a:ext cx="35112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Python编程教程知识库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20456" y="479145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8302752" y="4809744"/>
            <a:ext cx="33558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对话触发检索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5175504"/>
            <a:ext cx="11274552" cy="38404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3" name="Text 51"/>
          <p:cNvSpPr/>
          <p:nvPr/>
        </p:nvSpPr>
        <p:spPr>
          <a:xfrm>
            <a:off x="530352" y="5193792"/>
            <a:ext cx="3968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Java编程教学助手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62856" y="5175504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4645152" y="5193792"/>
            <a:ext cx="35112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Java编程教程知识库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220456" y="5175504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7" name="Text 55"/>
          <p:cNvSpPr/>
          <p:nvPr/>
        </p:nvSpPr>
        <p:spPr>
          <a:xfrm>
            <a:off x="8302752" y="5193792"/>
            <a:ext cx="33558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对话触发检索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5559552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530352" y="5577840"/>
            <a:ext cx="3968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工业网络安全助手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62856" y="5559552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4645152" y="5577840"/>
            <a:ext cx="35112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工业安全标准知识库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220456" y="5559552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8302752" y="5577840"/>
            <a:ext cx="33558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对话触发检索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3657600"/>
            <a:ext cx="11274552" cy="22860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个知识库 · 3 种局域网访问方式 · 学生对话即可检索知识库内容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7" name="Shape 6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0" name="Text 6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88c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Mailpit 邮件调试服务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188720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Mailpit 服务信息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UI: http://10.167.2.175:30205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SMTP: mailpit-smtp:1025 (K8s内部)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无需登录 · 浏览器直接访问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15184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接收 Dify 所有邮件：邀请/重置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90779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密码: 无需密码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493008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状态: ✅ 正常运行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1188720"/>
            <a:ext cx="5971032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188720"/>
            <a:ext cx="5971032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9" name="Text 17"/>
          <p:cNvSpPr/>
          <p:nvPr/>
        </p:nvSpPr>
        <p:spPr>
          <a:xfrm>
            <a:off x="5897880" y="1188720"/>
            <a:ext cx="5669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用户邀请邮件流程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178308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Owner/Admin 在 Dify 控制台邀请新成员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214884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Dify 通过 Mailpit SMTP 发送邀请邮件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51460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打开 http://10.167.2.175:30205 查看邮件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288036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新成员点击邮件中的注册链接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324612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设置密码 → 加入工作空间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Mailpit 提供 SMTP 邮件接收 + Web UI 查看 · 支持 Dify 用户邀请与注册流程 · 局域网直接访问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7" name="Shap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0" name="Text 2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88d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09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09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测试成果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 + 36 + 33 项测试 · 100% 通过 · 全栈验证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测试成果总览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243938"/>
            <a:ext cx="26060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应用数量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0" y="2243938"/>
            <a:ext cx="26060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本地模型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243938"/>
            <a:ext cx="26060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测试通过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243938"/>
            <a:ext cx="3044952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 压测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22783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测试类别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32278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用例数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2278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2278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28432" y="3227832"/>
            <a:ext cx="36301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5701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02005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48309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794613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63016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功能测试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57016" y="36118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3639312" y="36301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0056" y="36118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5102352" y="36301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83096" y="36118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565392" y="36301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946136" y="36118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028432" y="3630168"/>
            <a:ext cx="3630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个功能类别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6908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408736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模型对比测试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557016" y="40690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639312" y="40873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0056" y="40690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5102352" y="40873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83096" y="40690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565392" y="40873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946136" y="40690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8028432" y="4087368"/>
            <a:ext cx="3630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模型 × 6 场景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52628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454456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E2E 测试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557016" y="45262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3639312" y="45445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0056" y="45262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5102352" y="45445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83096" y="45262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565392" y="45445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946136" y="45262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028432" y="4544568"/>
            <a:ext cx="3630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Playwright 浏览器测试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98348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Text 62"/>
          <p:cNvSpPr/>
          <p:nvPr/>
        </p:nvSpPr>
        <p:spPr>
          <a:xfrm>
            <a:off x="530352" y="500176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压测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557016" y="49834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639312" y="50017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0056" y="49834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5102352" y="50017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83096" y="49834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565392" y="50017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946136" y="49834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8028432" y="5001768"/>
            <a:ext cx="3630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k6 + Locust + CS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44068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530352" y="545896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557016" y="54406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3639312" y="54589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020056" y="54406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5102352" y="54589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483096" y="54406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6565392" y="54589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946136" y="54406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028432" y="5458968"/>
            <a:ext cx="3630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全部测试通过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3200400"/>
            <a:ext cx="11274552" cy="26974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5" name="Shape 8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6" name="Text 8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8" name="Text 8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功能测试覆盖（43 用例 · 16 类别）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77977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功能类别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5643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用例数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3659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16752" y="1307592"/>
            <a:ext cx="56418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覆盖范围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41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654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9344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智能对话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7413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456432" y="17556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5429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4736592" y="17556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3445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6016752" y="17556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单轮/多轮/流式/上下文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2128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会话管理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7413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456432" y="22128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5429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4736592" y="22128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3445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6016752" y="22128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列表/历史/反馈/重命名/删除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6517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6700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456432" y="26700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5429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4736592" y="26700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3445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6016752" y="26700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创建/上传/索引/检索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1272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7413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456432" y="31272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5429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4736592" y="31272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3445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6016752" y="31272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情感分析/摘要/审查/翻译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5844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7413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456432" y="35844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5429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736592" y="35844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3445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016752" y="35844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工具调用/ReAct 推理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0416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文件上传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37413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456432" y="40416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5429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4736592" y="40416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93445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6016752" y="40416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图片/PDF/文本/大文件/异常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4988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 CRUD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37413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456432" y="44988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65429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4736592" y="44988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93445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016752" y="44988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创建/查询/更新/删除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49560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其他功能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37413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3456432" y="49560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65429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4736592" y="49560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93445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6016752" y="49560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应用市场/插件/MCP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1148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类功能 · 43 用例 · 100% 通过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模型对比测试（36 项 · 100% 通过）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最佳模型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耗时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3115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94192" y="1307592"/>
            <a:ext cx="326440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8488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3118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工业互联网基础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27355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858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5468112" y="175564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12.9s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6931152" y="175564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1189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8394192" y="175564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27355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858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468112" y="230428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488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6931152" y="230428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1189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8394192" y="230428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编程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27355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858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5468112" y="285292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7.9s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488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931152" y="285292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1189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394192" y="285292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数据库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468112" y="340156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10.8s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488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931152" y="340156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1189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8394192" y="340156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网络通信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27355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858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468112" y="395020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24.3s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488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6931152" y="395020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139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1189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8394192" y="395020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AI/机器学习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27355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3858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5468112" y="449884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13.3s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488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6931152" y="449884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31189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8394192" y="449884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模型 × 6 场景 = 36 项测试 · 全部通过 · 100% 通过率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0" name="Shape 7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1" name="Text 7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3" name="Text 8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Playwright E2E 测试（33 项 · 100% 通过）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测试方式：Playwright 模拟真实浏览器操作 · 非接口测试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56432" y="1399032"/>
            <a:ext cx="47914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浏览器操作步骤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94192" y="1399032"/>
            <a:ext cx="32644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374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3118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078992" y="180136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登录测试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7413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3456432" y="180136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打开页面 → 输入账号 → 登录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1189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8394192" y="180136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进入工作台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530352" y="235000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078992" y="235000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导航测试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7413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3456432" y="235000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点击各菜单 → 检查加载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1189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8394192" y="235000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全部正常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30352" y="289864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1078992" y="289864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对话测试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7413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3456432" y="289864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选应用 → 输入问题 → 获取回答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1189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394192" y="289864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流式输出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344728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1078992" y="344728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知识库测试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7413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3456432" y="344728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 → 上传 → 索引 → 检索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3118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8394192" y="344728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11 文档完成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30352" y="399592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1078992" y="399592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工作流测试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37413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3456432" y="399592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打开编排 → 输入 → 运行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3118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8394192" y="399592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结果正确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5"/>
          <p:cNvSpPr/>
          <p:nvPr/>
        </p:nvSpPr>
        <p:spPr>
          <a:xfrm>
            <a:off x="530352" y="454456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1078992" y="454456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 测试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37413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3456432" y="454456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 IDE → 编辑 → WS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3118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8394192" y="454456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0 错误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7033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33/33 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压力测试汇总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k6 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9147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k6 迭代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8073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Locust 请求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全部成功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工具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0779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70832" y="3044952"/>
            <a:ext cx="14996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请求/迭代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1675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P95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7979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42832" y="3044952"/>
            <a:ext cx="27157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25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2885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59344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7397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8605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57200" y="34290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530352" y="34472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2549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2907792" y="344728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8853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4370832" y="3447288"/>
            <a:ext cx="14996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9147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3445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6016752" y="344728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9.53s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9749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479792" y="344728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86053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942832" y="3447288"/>
            <a:ext cx="271576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95020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Locust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82549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907792" y="395020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28853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370832" y="3950208"/>
            <a:ext cx="14996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8073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3445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016752" y="395020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8.7s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9749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7479792" y="395020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86053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8942832" y="3950208"/>
            <a:ext cx="271576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4348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0" name="Text 58"/>
          <p:cNvSpPr/>
          <p:nvPr/>
        </p:nvSpPr>
        <p:spPr>
          <a:xfrm>
            <a:off x="530352" y="445312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 压测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82549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2907792" y="445312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8853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4370832" y="4453128"/>
            <a:ext cx="14996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93445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6016752" y="445312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39749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7479792" y="445312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86053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8942832" y="4453128"/>
            <a:ext cx="271576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302 通过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49560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验证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82549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2907792" y="495604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28853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4370832" y="4956048"/>
            <a:ext cx="14996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93445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6016752" y="495604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39749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7479792" y="495604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86053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942832" y="4956048"/>
            <a:ext cx="271576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3→20 伸缩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3017520"/>
            <a:ext cx="11274552" cy="24231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5" name="Shape 8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6" name="Text 8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8" name="Text 8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知识库索引成功率（11/11 完成）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文档总数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索引成功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631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分段总数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索引进度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PLC×3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343814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26" name="Shape 24"/>
          <p:cNvSpPr/>
          <p:nvPr/>
        </p:nvSpPr>
        <p:spPr>
          <a:xfrm>
            <a:off x="2011680" y="343814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27" name="Text 25"/>
          <p:cNvSpPr/>
          <p:nvPr/>
        </p:nvSpPr>
        <p:spPr>
          <a:xfrm>
            <a:off x="10789920" y="338328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协议×2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0" y="380390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30" name="Shape 28"/>
          <p:cNvSpPr/>
          <p:nvPr/>
        </p:nvSpPr>
        <p:spPr>
          <a:xfrm>
            <a:off x="2011680" y="380390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1" name="Text 29"/>
          <p:cNvSpPr/>
          <p:nvPr/>
        </p:nvSpPr>
        <p:spPr>
          <a:xfrm>
            <a:off x="10789920" y="374904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安全×1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0" y="416966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34" name="Shape 32"/>
          <p:cNvSpPr/>
          <p:nvPr/>
        </p:nvSpPr>
        <p:spPr>
          <a:xfrm>
            <a:off x="2011680" y="416966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5" name="Text 33"/>
          <p:cNvSpPr/>
          <p:nvPr/>
        </p:nvSpPr>
        <p:spPr>
          <a:xfrm>
            <a:off x="10789920" y="411480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48056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Python×2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11680" y="453542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38" name="Shape 36"/>
          <p:cNvSpPr/>
          <p:nvPr/>
        </p:nvSpPr>
        <p:spPr>
          <a:xfrm>
            <a:off x="2011680" y="453542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9" name="Text 37"/>
          <p:cNvSpPr/>
          <p:nvPr/>
        </p:nvSpPr>
        <p:spPr>
          <a:xfrm>
            <a:off x="10789920" y="448056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Java×1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0" y="490118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42" name="Shape 40"/>
          <p:cNvSpPr/>
          <p:nvPr/>
        </p:nvSpPr>
        <p:spPr>
          <a:xfrm>
            <a:off x="2011680" y="490118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3" name="Text 41"/>
          <p:cNvSpPr/>
          <p:nvPr/>
        </p:nvSpPr>
        <p:spPr>
          <a:xfrm>
            <a:off x="10789920" y="484632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52120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软件工程×1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11680" y="526694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46" name="Shape 44"/>
          <p:cNvSpPr/>
          <p:nvPr/>
        </p:nvSpPr>
        <p:spPr>
          <a:xfrm>
            <a:off x="2011680" y="526694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7" name="Text 45"/>
          <p:cNvSpPr/>
          <p:nvPr/>
        </p:nvSpPr>
        <p:spPr>
          <a:xfrm>
            <a:off x="10789920" y="521208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55778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IIoT×1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11680" y="563270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50" name="Shape 48"/>
          <p:cNvSpPr/>
          <p:nvPr/>
        </p:nvSpPr>
        <p:spPr>
          <a:xfrm>
            <a:off x="2011680" y="563270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51" name="Text 49"/>
          <p:cNvSpPr/>
          <p:nvPr/>
        </p:nvSpPr>
        <p:spPr>
          <a:xfrm>
            <a:off x="10789920" y="557784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个文档全部索引完成 · 0 失败 · 631 个分段可用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4" name="Shape 5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7" name="Text 5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成果回顾 · 经验沉淀 · 未来规划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96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十大核心成果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8132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594360" y="148132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8132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 Dify 平台本地化部署 · 58 个教学应用上线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48132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6355080" y="148132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148132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部署 26 个本地 AI 模型 · LiteLLM 统一网关 · 故障转移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44144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" y="244144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44144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AI 编程环境 · 52 扩展 · Continue.dev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24028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44144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6355080" y="244144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44144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个教学知识库 · 11 文档 · 631 分段全部索引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40156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594360" y="340156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40156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个工业 IoT 工作流 · 3 个 Agent · 4 个虚拟课堂导师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20040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40156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6355080" y="340156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340156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自动伸缩 · 3→20 副本弹性 · 500 并发压测通过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36168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594360" y="436168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6168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8 集群 · 3 节点 · 16384 槽 · 100% 可用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416052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436168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7" name="Text 35"/>
          <p:cNvSpPr/>
          <p:nvPr/>
        </p:nvSpPr>
        <p:spPr>
          <a:xfrm>
            <a:off x="6355080" y="436168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436168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层代码补丁 · model_schema null 修复 · patched 镜像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12064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532180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594360" y="53218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" y="532180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 项测试 100% 通过 · 功能/模型/E2E/压测全覆盖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512064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532180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5" name="Text 43"/>
          <p:cNvSpPr/>
          <p:nvPr/>
        </p:nvSpPr>
        <p:spPr>
          <a:xfrm>
            <a:off x="6355080" y="53218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58000" y="532180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 + Grafana 33 面板 · 全栈可观测 · 备份恢复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Shap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1" name="Text 4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未来规划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短期（3 个月内）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12848"/>
            <a:ext cx="237744" cy="23774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1051560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补充 5 个待上传知识库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990088"/>
            <a:ext cx="237744" cy="23774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1051560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扩容模型至 30+ 个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767328"/>
            <a:ext cx="237744" cy="23774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1051560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完善游戏化学习 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4544568"/>
            <a:ext cx="237744" cy="23774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1051560" y="443484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 Ollama 推理性能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1280160"/>
            <a:ext cx="370332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4462272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中期（6 个月内）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99432" y="22128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2" name="Text 20"/>
          <p:cNvSpPr/>
          <p:nvPr/>
        </p:nvSpPr>
        <p:spPr>
          <a:xfrm>
            <a:off x="4965192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接入更多课程场景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99432" y="29900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4965192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音视频多模态扩展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99432" y="376732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4965192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建立学生画像系统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99432" y="45445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8" name="Text 26"/>
          <p:cNvSpPr/>
          <p:nvPr/>
        </p:nvSpPr>
        <p:spPr>
          <a:xfrm>
            <a:off x="4965192" y="443484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教学数据分析平台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84464" y="1280160"/>
            <a:ext cx="370332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1" name="Text 29"/>
          <p:cNvSpPr/>
          <p:nvPr/>
        </p:nvSpPr>
        <p:spPr>
          <a:xfrm>
            <a:off x="8375904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长期（12 个月内）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13064" y="2212848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8878824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5000+ 并发用户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13064" y="2990088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5" name="Text 33"/>
          <p:cNvSpPr/>
          <p:nvPr/>
        </p:nvSpPr>
        <p:spPr>
          <a:xfrm>
            <a:off x="8878824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跨校区分布式部署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13064" y="3767328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7" name="Text 35"/>
          <p:cNvSpPr/>
          <p:nvPr/>
        </p:nvSpPr>
        <p:spPr>
          <a:xfrm>
            <a:off x="8878824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教学质量评估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13064" y="4544568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8878824" y="443484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 IoT 数字孪生集成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分阶段规划 · 持续迭代 · 打造工业 IoT 教学标杆平台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2" name="Shap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5" name="Text 4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经验沉淀 · 踩坑总结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31455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99632" y="1307592"/>
            <a:ext cx="40599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05872" y="1307592"/>
            <a:ext cx="12527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1173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103235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kubelet 认证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2549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2907792" y="175564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节点 NotReady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1733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6199632" y="175564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续签证书 · 重启服务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3235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10405872" y="175564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2585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MOVED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2549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2907792" y="225856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外部访问失败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1733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6199632" y="225856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announce-ip + TrafficPolicy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3235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10405872" y="225856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7614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 版本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2549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2907792" y="276148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依赖冲突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1733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6199632" y="276148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固定 numpy&lt;2 · 重装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3235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10405872" y="276148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26440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Calico 路由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2549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2907792" y="326440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Pod 网络中断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1733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199632" y="326440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重建 calico-node · BGP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3235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10405872" y="326440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76732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WS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82549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907792" y="376732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WS 401/400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1733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6199632" y="376732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proxy v4 · upgrade 处理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3235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10405872" y="376732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2702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model_schema null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82549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2907792" y="427024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500 错误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1733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199632" y="427024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层补丁 · patched 镜像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3235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10405872" y="427024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7731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内存过高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82549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2907792" y="477316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123GB 占用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11733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6199632" y="477316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禁用索引 · 常驻模型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32357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10405872" y="477316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52760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iptables DNAT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82549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2907792" y="527608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 不通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11733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6199632" y="527608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重置 iptables · kube-proxy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32357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10405872" y="527608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4805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类关键问题全部解决 · 形成可复用运维知识库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Shape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E2A48"/>
          </a:solidFill>
        </p:spPr>
      </p:sp>
      <p:sp>
        <p:nvSpPr>
          <p:cNvPr id="5" name="Shape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E2A48"/>
          </a:solidFill>
        </p:spPr>
      </p:sp>
      <p:sp>
        <p:nvSpPr>
          <p:cNvPr id="6" name="Text 4"/>
          <p:cNvSpPr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感谢聆听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120640" y="3657600"/>
            <a:ext cx="192024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 智能体服务平台 · 本地化部署成果汇报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工业互联网应用专业 · AI 教学平台 · 2026年8月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5212080"/>
            <a:ext cx="41148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5212080"/>
            <a:ext cx="4114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欢迎提问与交流 (Q &amp; A)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27484</Words>
  <Application>WPS 演示</Application>
  <PresentationFormat>On-screen Show (16:9)</PresentationFormat>
  <Paragraphs>6353</Paragraphs>
  <Slides>103</Slides>
  <Notes>103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21" baseType="lpstr">
      <vt:lpstr>Arial</vt:lpstr>
      <vt:lpstr>宋体</vt:lpstr>
      <vt:lpstr>Wingdings</vt:lpstr>
      <vt:lpstr>Arial Black</vt:lpstr>
      <vt:lpstr>Arial Black</vt:lpstr>
      <vt:lpstr>Arial Black</vt:lpstr>
      <vt:lpstr>Arial</vt:lpstr>
      <vt:lpstr>Arial</vt:lpstr>
      <vt:lpstr>Calibri</vt:lpstr>
      <vt:lpstr>Calibri</vt:lpstr>
      <vt:lpstr>Calibri</vt:lpstr>
      <vt:lpstr>微软雅黑</vt:lpstr>
      <vt:lpstr>Arial Unicode MS</vt:lpstr>
      <vt:lpstr>等线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Industrial IoT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Dify Platform Team</dc:creator>
  <dc:subject>Dify 智能体服务平台本地化部署成果汇报</dc:subject>
  <cp:lastModifiedBy>天琼恩泽</cp:lastModifiedBy>
  <cp:revision>2</cp:revision>
  <dcterms:created xsi:type="dcterms:W3CDTF">2026-09-03T00:55:00Z</dcterms:created>
  <dcterms:modified xsi:type="dcterms:W3CDTF">2026-09-03T04:27:12Z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00929AC6D409408993843C387AE4E356_12</vt:lpwstr>
  </property>
  <property fmtid="{D5CDD505-2E9C-101B-9397-08002B2CF9AE}" pid="3" name="KSOProductBuildVer">
    <vt:lpwstr>2052-12.1.0.28488</vt:lpwstr>
  </property>
</Properties>
</file>